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8" r:id="rId8"/>
    <p:sldId id="269" r:id="rId9"/>
    <p:sldId id="270" r:id="rId10"/>
    <p:sldId id="262" r:id="rId11"/>
    <p:sldId id="263" r:id="rId12"/>
    <p:sldId id="264" r:id="rId13"/>
    <p:sldId id="267" r:id="rId14"/>
    <p:sldId id="271" r:id="rId15"/>
    <p:sldId id="274" r:id="rId16"/>
    <p:sldId id="275" r:id="rId17"/>
    <p:sldId id="272" r:id="rId18"/>
    <p:sldId id="273" r:id="rId19"/>
    <p:sldId id="265" r:id="rId20"/>
    <p:sldId id="266" r:id="rId21"/>
  </p:sldIdLst>
  <p:sldSz cx="12192000" cy="6858000"/>
  <p:notesSz cx="12192000" cy="6858000"/>
  <p:defaultTextStyle>
    <a:defPPr>
      <a:defRPr kern="0"/>
    </a:defPPr>
  </p:defaultTextStyle>
  <p:extLst>
    <p:ext uri="{521415D9-36F7-43E2-AB2F-B90AF26B5E84}">
      <p14:sectionLst xmlns:p14="http://schemas.microsoft.com/office/powerpoint/2010/main">
        <p14:section name="Default Section" id="{66A94B60-E2EC-4356-AB80-968FCC9F3599}">
          <p14:sldIdLst>
            <p14:sldId id="256"/>
            <p14:sldId id="257"/>
            <p14:sldId id="258"/>
            <p14:sldId id="259"/>
            <p14:sldId id="260"/>
            <p14:sldId id="261"/>
            <p14:sldId id="268"/>
            <p14:sldId id="269"/>
            <p14:sldId id="270"/>
            <p14:sldId id="262"/>
            <p14:sldId id="263"/>
            <p14:sldId id="264"/>
            <p14:sldId id="267"/>
            <p14:sldId id="271"/>
            <p14:sldId id="274"/>
            <p14:sldId id="275"/>
            <p14:sldId id="272"/>
            <p14:sldId id="273"/>
            <p14:sldId id="265"/>
            <p14:sldId id="266"/>
          </p14:sldIdLst>
        </p14:section>
      </p14:sectionLst>
    </p:ext>
    <p:ext uri="{EFAFB233-063F-42B5-8137-9DF3F51BA10A}">
      <p15:sldGuideLst xmlns:p15="http://schemas.microsoft.com/office/powerpoint/2012/main">
        <p15:guide id="1" orient="horz" pos="2854"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525" autoAdjust="0"/>
  </p:normalViewPr>
  <p:slideViewPr>
    <p:cSldViewPr showGuides="1">
      <p:cViewPr varScale="1">
        <p:scale>
          <a:sx n="75" d="100"/>
          <a:sy n="75" d="100"/>
        </p:scale>
        <p:origin x="946" y="48"/>
      </p:cViewPr>
      <p:guideLst>
        <p:guide orient="horz" pos="2854"/>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FBEAE46-2DD3-4D82-98DE-E0FF3D279179}" type="datetimeFigureOut">
              <a:rPr lang="en-IN" smtClean="0"/>
              <a:t>26-09-2026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8D3FA19-18D1-4E73-B462-841889C8548A}" type="slidenum">
              <a:rPr lang="en-IN" smtClean="0"/>
              <a:t>‹#›</a:t>
            </a:fld>
            <a:endParaRPr lang="en-IN"/>
          </a:p>
        </p:txBody>
      </p:sp>
    </p:spTree>
    <p:extLst>
      <p:ext uri="{BB962C8B-B14F-4D97-AF65-F5344CB8AC3E}">
        <p14:creationId xmlns:p14="http://schemas.microsoft.com/office/powerpoint/2010/main" val="128455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D3FA19-18D1-4E73-B462-841889C8548A}" type="slidenum">
              <a:rPr lang="en-IN" smtClean="0"/>
              <a:t>9</a:t>
            </a:fld>
            <a:endParaRPr lang="en-IN"/>
          </a:p>
        </p:txBody>
      </p:sp>
    </p:spTree>
    <p:extLst>
      <p:ext uri="{BB962C8B-B14F-4D97-AF65-F5344CB8AC3E}">
        <p14:creationId xmlns:p14="http://schemas.microsoft.com/office/powerpoint/2010/main" val="2144501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mbria" panose="02040503050406030204"/>
                <a:cs typeface="Cambria" panose="020405030504060302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mbria" panose="02040503050406030204"/>
                <a:cs typeface="Cambria" panose="02040503050406030204"/>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mbria" panose="02040503050406030204"/>
                <a:cs typeface="Cambria" panose="02040503050406030204"/>
              </a:defRPr>
            </a:lvl1pPr>
          </a:lstStyle>
          <a:p>
            <a:pPr algn="ctr">
              <a:lnSpc>
                <a:spcPts val="1810"/>
              </a:lnSpc>
            </a:pPr>
            <a:r>
              <a:rPr dirty="0">
                <a:latin typeface="Calibri" panose="020F0502020204030204"/>
                <a:cs typeface="Calibri" panose="020F0502020204030204"/>
              </a:rPr>
              <a:t>DEPARTMENT</a:t>
            </a:r>
            <a:r>
              <a:rPr spc="-4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COMPUTER</a:t>
            </a:r>
            <a:r>
              <a:rPr spc="-30" dirty="0">
                <a:latin typeface="Calibri" panose="020F0502020204030204"/>
                <a:cs typeface="Calibri" panose="020F0502020204030204"/>
              </a:rPr>
              <a:t> </a:t>
            </a:r>
            <a:r>
              <a:rPr spc="-10" dirty="0">
                <a:latin typeface="Calibri" panose="020F0502020204030204"/>
                <a:cs typeface="Calibri" panose="020F0502020204030204"/>
              </a:rPr>
              <a:t>ENGINEERING</a:t>
            </a:r>
          </a:p>
          <a:p>
            <a:pPr algn="ctr">
              <a:lnSpc>
                <a:spcPct val="100000"/>
              </a:lnSpc>
            </a:pPr>
            <a:r>
              <a:rPr dirty="0">
                <a:latin typeface="Calibri" panose="020F0502020204030204"/>
                <a:cs typeface="Calibri" panose="020F0502020204030204"/>
              </a:rPr>
              <a:t>*Proprietary</a:t>
            </a:r>
            <a:r>
              <a:rPr spc="-45" dirty="0">
                <a:latin typeface="Calibri" panose="020F0502020204030204"/>
                <a:cs typeface="Calibri" panose="020F0502020204030204"/>
              </a:rPr>
              <a:t> </a:t>
            </a:r>
            <a:r>
              <a:rPr dirty="0">
                <a:latin typeface="Calibri" panose="020F0502020204030204"/>
                <a:cs typeface="Calibri" panose="020F0502020204030204"/>
              </a:rPr>
              <a:t>material</a:t>
            </a:r>
            <a:r>
              <a:rPr spc="-3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SILVER</a:t>
            </a:r>
            <a:r>
              <a:rPr spc="-35" dirty="0">
                <a:latin typeface="Calibri" panose="020F0502020204030204"/>
                <a:cs typeface="Calibri" panose="020F0502020204030204"/>
              </a:rPr>
              <a:t> </a:t>
            </a:r>
            <a:r>
              <a:rPr dirty="0">
                <a:latin typeface="Calibri" panose="020F0502020204030204"/>
                <a:cs typeface="Calibri" panose="020F0502020204030204"/>
              </a:rPr>
              <a:t>OAK</a:t>
            </a:r>
            <a:r>
              <a:rPr spc="-30" dirty="0">
                <a:latin typeface="Calibri" panose="020F0502020204030204"/>
                <a:cs typeface="Calibri" panose="020F0502020204030204"/>
              </a:rPr>
              <a:t> </a:t>
            </a:r>
            <a:r>
              <a:rPr spc="-10" dirty="0">
                <a:latin typeface="Calibri" panose="020F0502020204030204"/>
                <a:cs typeface="Calibri" panose="020F0502020204030204"/>
              </a:rPr>
              <a:t>UNIVERSITY</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r>
              <a:rPr spc="-20" dirty="0"/>
              <a:t>10-09-2025</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mbria" panose="02040503050406030204"/>
                <a:cs typeface="Cambria" panose="02040503050406030204"/>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mbria" panose="02040503050406030204"/>
                <a:cs typeface="Cambria" panose="02040503050406030204"/>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mbria" panose="02040503050406030204"/>
                <a:cs typeface="Cambria" panose="02040503050406030204"/>
              </a:defRPr>
            </a:lvl1pPr>
          </a:lstStyle>
          <a:p>
            <a:pPr algn="ctr">
              <a:lnSpc>
                <a:spcPts val="1810"/>
              </a:lnSpc>
            </a:pPr>
            <a:r>
              <a:rPr dirty="0">
                <a:latin typeface="Calibri" panose="020F0502020204030204"/>
                <a:cs typeface="Calibri" panose="020F0502020204030204"/>
              </a:rPr>
              <a:t>DEPARTMENT</a:t>
            </a:r>
            <a:r>
              <a:rPr spc="-4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COMPUTER</a:t>
            </a:r>
            <a:r>
              <a:rPr spc="-30" dirty="0">
                <a:latin typeface="Calibri" panose="020F0502020204030204"/>
                <a:cs typeface="Calibri" panose="020F0502020204030204"/>
              </a:rPr>
              <a:t> </a:t>
            </a:r>
            <a:r>
              <a:rPr spc="-10" dirty="0">
                <a:latin typeface="Calibri" panose="020F0502020204030204"/>
                <a:cs typeface="Calibri" panose="020F0502020204030204"/>
              </a:rPr>
              <a:t>ENGINEERING</a:t>
            </a:r>
          </a:p>
          <a:p>
            <a:pPr algn="ctr">
              <a:lnSpc>
                <a:spcPct val="100000"/>
              </a:lnSpc>
            </a:pPr>
            <a:r>
              <a:rPr dirty="0">
                <a:latin typeface="Calibri" panose="020F0502020204030204"/>
                <a:cs typeface="Calibri" panose="020F0502020204030204"/>
              </a:rPr>
              <a:t>*Proprietary</a:t>
            </a:r>
            <a:r>
              <a:rPr spc="-45" dirty="0">
                <a:latin typeface="Calibri" panose="020F0502020204030204"/>
                <a:cs typeface="Calibri" panose="020F0502020204030204"/>
              </a:rPr>
              <a:t> </a:t>
            </a:r>
            <a:r>
              <a:rPr dirty="0">
                <a:latin typeface="Calibri" panose="020F0502020204030204"/>
                <a:cs typeface="Calibri" panose="020F0502020204030204"/>
              </a:rPr>
              <a:t>material</a:t>
            </a:r>
            <a:r>
              <a:rPr spc="-3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SILVER</a:t>
            </a:r>
            <a:r>
              <a:rPr spc="-35" dirty="0">
                <a:latin typeface="Calibri" panose="020F0502020204030204"/>
                <a:cs typeface="Calibri" panose="020F0502020204030204"/>
              </a:rPr>
              <a:t> </a:t>
            </a:r>
            <a:r>
              <a:rPr dirty="0">
                <a:latin typeface="Calibri" panose="020F0502020204030204"/>
                <a:cs typeface="Calibri" panose="020F0502020204030204"/>
              </a:rPr>
              <a:t>OAK</a:t>
            </a:r>
            <a:r>
              <a:rPr spc="-30" dirty="0">
                <a:latin typeface="Calibri" panose="020F0502020204030204"/>
                <a:cs typeface="Calibri" panose="020F0502020204030204"/>
              </a:rPr>
              <a:t> </a:t>
            </a:r>
            <a:r>
              <a:rPr spc="-10" dirty="0">
                <a:latin typeface="Calibri" panose="020F0502020204030204"/>
                <a:cs typeface="Calibri" panose="020F0502020204030204"/>
              </a:rPr>
              <a:t>UNIVERSITY</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r>
              <a:rPr spc="-20" dirty="0"/>
              <a:t>10-09-2025</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mbria" panose="02040503050406030204"/>
                <a:cs typeface="Cambria" panose="020405030504060302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Cambria" panose="02040503050406030204"/>
                <a:cs typeface="Cambria" panose="02040503050406030204"/>
              </a:defRPr>
            </a:lvl1pPr>
          </a:lstStyle>
          <a:p>
            <a:pPr algn="ctr">
              <a:lnSpc>
                <a:spcPts val="1810"/>
              </a:lnSpc>
            </a:pPr>
            <a:r>
              <a:rPr dirty="0">
                <a:latin typeface="Calibri" panose="020F0502020204030204"/>
                <a:cs typeface="Calibri" panose="020F0502020204030204"/>
              </a:rPr>
              <a:t>DEPARTMENT</a:t>
            </a:r>
            <a:r>
              <a:rPr spc="-4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COMPUTER</a:t>
            </a:r>
            <a:r>
              <a:rPr spc="-30" dirty="0">
                <a:latin typeface="Calibri" panose="020F0502020204030204"/>
                <a:cs typeface="Calibri" panose="020F0502020204030204"/>
              </a:rPr>
              <a:t> </a:t>
            </a:r>
            <a:r>
              <a:rPr spc="-10" dirty="0">
                <a:latin typeface="Calibri" panose="020F0502020204030204"/>
                <a:cs typeface="Calibri" panose="020F0502020204030204"/>
              </a:rPr>
              <a:t>ENGINEERING</a:t>
            </a:r>
          </a:p>
          <a:p>
            <a:pPr algn="ctr">
              <a:lnSpc>
                <a:spcPct val="100000"/>
              </a:lnSpc>
            </a:pPr>
            <a:r>
              <a:rPr dirty="0">
                <a:latin typeface="Calibri" panose="020F0502020204030204"/>
                <a:cs typeface="Calibri" panose="020F0502020204030204"/>
              </a:rPr>
              <a:t>*Proprietary</a:t>
            </a:r>
            <a:r>
              <a:rPr spc="-45" dirty="0">
                <a:latin typeface="Calibri" panose="020F0502020204030204"/>
                <a:cs typeface="Calibri" panose="020F0502020204030204"/>
              </a:rPr>
              <a:t> </a:t>
            </a:r>
            <a:r>
              <a:rPr dirty="0">
                <a:latin typeface="Calibri" panose="020F0502020204030204"/>
                <a:cs typeface="Calibri" panose="020F0502020204030204"/>
              </a:rPr>
              <a:t>material</a:t>
            </a:r>
            <a:r>
              <a:rPr spc="-3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SILVER</a:t>
            </a:r>
            <a:r>
              <a:rPr spc="-35" dirty="0">
                <a:latin typeface="Calibri" panose="020F0502020204030204"/>
                <a:cs typeface="Calibri" panose="020F0502020204030204"/>
              </a:rPr>
              <a:t> </a:t>
            </a:r>
            <a:r>
              <a:rPr dirty="0">
                <a:latin typeface="Calibri" panose="020F0502020204030204"/>
                <a:cs typeface="Calibri" panose="020F0502020204030204"/>
              </a:rPr>
              <a:t>OAK</a:t>
            </a:r>
            <a:r>
              <a:rPr spc="-30" dirty="0">
                <a:latin typeface="Calibri" panose="020F0502020204030204"/>
                <a:cs typeface="Calibri" panose="020F0502020204030204"/>
              </a:rPr>
              <a:t> </a:t>
            </a:r>
            <a:r>
              <a:rPr spc="-10" dirty="0">
                <a:latin typeface="Calibri" panose="020F0502020204030204"/>
                <a:cs typeface="Calibri" panose="020F0502020204030204"/>
              </a:rPr>
              <a:t>UNIVERSITY</a:t>
            </a: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r>
              <a:rPr spc="-20" dirty="0"/>
              <a:t>10-09-2025</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mbria" panose="02040503050406030204"/>
                <a:cs typeface="Cambria" panose="02040503050406030204"/>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Cambria" panose="02040503050406030204"/>
                <a:cs typeface="Cambria" panose="02040503050406030204"/>
              </a:defRPr>
            </a:lvl1pPr>
          </a:lstStyle>
          <a:p>
            <a:pPr algn="ctr">
              <a:lnSpc>
                <a:spcPts val="1810"/>
              </a:lnSpc>
            </a:pPr>
            <a:r>
              <a:rPr dirty="0">
                <a:latin typeface="Calibri" panose="020F0502020204030204"/>
                <a:cs typeface="Calibri" panose="020F0502020204030204"/>
              </a:rPr>
              <a:t>DEPARTMENT</a:t>
            </a:r>
            <a:r>
              <a:rPr spc="-4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COMPUTER</a:t>
            </a:r>
            <a:r>
              <a:rPr spc="-30" dirty="0">
                <a:latin typeface="Calibri" panose="020F0502020204030204"/>
                <a:cs typeface="Calibri" panose="020F0502020204030204"/>
              </a:rPr>
              <a:t> </a:t>
            </a:r>
            <a:r>
              <a:rPr spc="-10" dirty="0">
                <a:latin typeface="Calibri" panose="020F0502020204030204"/>
                <a:cs typeface="Calibri" panose="020F0502020204030204"/>
              </a:rPr>
              <a:t>ENGINEERING</a:t>
            </a:r>
          </a:p>
          <a:p>
            <a:pPr algn="ctr">
              <a:lnSpc>
                <a:spcPct val="100000"/>
              </a:lnSpc>
            </a:pPr>
            <a:r>
              <a:rPr dirty="0">
                <a:latin typeface="Calibri" panose="020F0502020204030204"/>
                <a:cs typeface="Calibri" panose="020F0502020204030204"/>
              </a:rPr>
              <a:t>*Proprietary</a:t>
            </a:r>
            <a:r>
              <a:rPr spc="-45" dirty="0">
                <a:latin typeface="Calibri" panose="020F0502020204030204"/>
                <a:cs typeface="Calibri" panose="020F0502020204030204"/>
              </a:rPr>
              <a:t> </a:t>
            </a:r>
            <a:r>
              <a:rPr dirty="0">
                <a:latin typeface="Calibri" panose="020F0502020204030204"/>
                <a:cs typeface="Calibri" panose="020F0502020204030204"/>
              </a:rPr>
              <a:t>material</a:t>
            </a:r>
            <a:r>
              <a:rPr spc="-3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SILVER</a:t>
            </a:r>
            <a:r>
              <a:rPr spc="-35" dirty="0">
                <a:latin typeface="Calibri" panose="020F0502020204030204"/>
                <a:cs typeface="Calibri" panose="020F0502020204030204"/>
              </a:rPr>
              <a:t> </a:t>
            </a:r>
            <a:r>
              <a:rPr dirty="0">
                <a:latin typeface="Calibri" panose="020F0502020204030204"/>
                <a:cs typeface="Calibri" panose="020F0502020204030204"/>
              </a:rPr>
              <a:t>OAK</a:t>
            </a:r>
            <a:r>
              <a:rPr spc="-30" dirty="0">
                <a:latin typeface="Calibri" panose="020F0502020204030204"/>
                <a:cs typeface="Calibri" panose="020F0502020204030204"/>
              </a:rPr>
              <a:t> </a:t>
            </a:r>
            <a:r>
              <a:rPr spc="-10" dirty="0">
                <a:latin typeface="Calibri" panose="020F0502020204030204"/>
                <a:cs typeface="Calibri" panose="020F0502020204030204"/>
              </a:rPr>
              <a:t>UNIVERSITY</a:t>
            </a: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r>
              <a:rPr spc="-20" dirty="0"/>
              <a:t>10-09-2025</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226037" y="0"/>
            <a:ext cx="1965962" cy="568994"/>
          </a:xfrm>
          <a:prstGeom prst="rect">
            <a:avLst/>
          </a:prstGeom>
        </p:spPr>
      </p:pic>
      <p:pic>
        <p:nvPicPr>
          <p:cNvPr id="17" name="bg object 17"/>
          <p:cNvPicPr/>
          <p:nvPr/>
        </p:nvPicPr>
        <p:blipFill>
          <a:blip r:embed="rId3" cstate="print"/>
          <a:stretch>
            <a:fillRect/>
          </a:stretch>
        </p:blipFill>
        <p:spPr>
          <a:xfrm>
            <a:off x="0" y="0"/>
            <a:ext cx="12185802" cy="5739324"/>
          </a:xfrm>
          <a:prstGeom prst="rect">
            <a:avLst/>
          </a:prstGeom>
        </p:spPr>
      </p:pic>
      <p:sp>
        <p:nvSpPr>
          <p:cNvPr id="18" name="bg object 18"/>
          <p:cNvSpPr/>
          <p:nvPr/>
        </p:nvSpPr>
        <p:spPr>
          <a:xfrm>
            <a:off x="0" y="3875476"/>
            <a:ext cx="12186285" cy="2982595"/>
          </a:xfrm>
          <a:custGeom>
            <a:avLst/>
            <a:gdLst/>
            <a:ahLst/>
            <a:cxnLst/>
            <a:rect l="l" t="t" r="r" b="b"/>
            <a:pathLst>
              <a:path w="12186285" h="2982595">
                <a:moveTo>
                  <a:pt x="0" y="2982599"/>
                </a:moveTo>
                <a:lnTo>
                  <a:pt x="0" y="0"/>
                </a:lnTo>
                <a:lnTo>
                  <a:pt x="12185699" y="0"/>
                </a:lnTo>
                <a:lnTo>
                  <a:pt x="12185699" y="2982523"/>
                </a:lnTo>
                <a:lnTo>
                  <a:pt x="0" y="2982599"/>
                </a:lnTo>
                <a:close/>
              </a:path>
            </a:pathLst>
          </a:custGeom>
          <a:solidFill>
            <a:srgbClr val="953734"/>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800" b="0" i="0">
                <a:solidFill>
                  <a:schemeClr val="tx1"/>
                </a:solidFill>
                <a:latin typeface="Cambria" panose="02040503050406030204"/>
                <a:cs typeface="Cambria" panose="02040503050406030204"/>
              </a:defRPr>
            </a:lvl1pPr>
          </a:lstStyle>
          <a:p>
            <a:pPr algn="ctr">
              <a:lnSpc>
                <a:spcPts val="1810"/>
              </a:lnSpc>
            </a:pPr>
            <a:r>
              <a:rPr dirty="0">
                <a:latin typeface="Calibri" panose="020F0502020204030204"/>
                <a:cs typeface="Calibri" panose="020F0502020204030204"/>
              </a:rPr>
              <a:t>DEPARTMENT</a:t>
            </a:r>
            <a:r>
              <a:rPr spc="-4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COMPUTER</a:t>
            </a:r>
            <a:r>
              <a:rPr spc="-30" dirty="0">
                <a:latin typeface="Calibri" panose="020F0502020204030204"/>
                <a:cs typeface="Calibri" panose="020F0502020204030204"/>
              </a:rPr>
              <a:t> </a:t>
            </a:r>
            <a:r>
              <a:rPr spc="-10" dirty="0">
                <a:latin typeface="Calibri" panose="020F0502020204030204"/>
                <a:cs typeface="Calibri" panose="020F0502020204030204"/>
              </a:rPr>
              <a:t>ENGINEERING</a:t>
            </a:r>
          </a:p>
          <a:p>
            <a:pPr algn="ctr">
              <a:lnSpc>
                <a:spcPct val="100000"/>
              </a:lnSpc>
            </a:pPr>
            <a:r>
              <a:rPr dirty="0">
                <a:latin typeface="Calibri" panose="020F0502020204030204"/>
                <a:cs typeface="Calibri" panose="020F0502020204030204"/>
              </a:rPr>
              <a:t>*Proprietary</a:t>
            </a:r>
            <a:r>
              <a:rPr spc="-45" dirty="0">
                <a:latin typeface="Calibri" panose="020F0502020204030204"/>
                <a:cs typeface="Calibri" panose="020F0502020204030204"/>
              </a:rPr>
              <a:t> </a:t>
            </a:r>
            <a:r>
              <a:rPr dirty="0">
                <a:latin typeface="Calibri" panose="020F0502020204030204"/>
                <a:cs typeface="Calibri" panose="020F0502020204030204"/>
              </a:rPr>
              <a:t>material</a:t>
            </a:r>
            <a:r>
              <a:rPr spc="-3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SILVER</a:t>
            </a:r>
            <a:r>
              <a:rPr spc="-35" dirty="0">
                <a:latin typeface="Calibri" panose="020F0502020204030204"/>
                <a:cs typeface="Calibri" panose="020F0502020204030204"/>
              </a:rPr>
              <a:t> </a:t>
            </a:r>
            <a:r>
              <a:rPr dirty="0">
                <a:latin typeface="Calibri" panose="020F0502020204030204"/>
                <a:cs typeface="Calibri" panose="020F0502020204030204"/>
              </a:rPr>
              <a:t>OAK</a:t>
            </a:r>
            <a:r>
              <a:rPr spc="-30" dirty="0">
                <a:latin typeface="Calibri" panose="020F0502020204030204"/>
                <a:cs typeface="Calibri" panose="020F0502020204030204"/>
              </a:rPr>
              <a:t> </a:t>
            </a:r>
            <a:r>
              <a:rPr spc="-10" dirty="0">
                <a:latin typeface="Calibri" panose="020F0502020204030204"/>
                <a:cs typeface="Calibri" panose="020F0502020204030204"/>
              </a:rPr>
              <a:t>UNIVERSITY</a:t>
            </a: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r>
              <a:rPr spc="-20" dirty="0"/>
              <a:t>10-09-2025</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9815721" y="0"/>
            <a:ext cx="2376273" cy="513799"/>
          </a:xfrm>
          <a:prstGeom prst="rect">
            <a:avLst/>
          </a:prstGeom>
        </p:spPr>
      </p:pic>
      <p:sp>
        <p:nvSpPr>
          <p:cNvPr id="2" name="Holder 2"/>
          <p:cNvSpPr>
            <a:spLocks noGrp="1"/>
          </p:cNvSpPr>
          <p:nvPr>
            <p:ph type="title"/>
          </p:nvPr>
        </p:nvSpPr>
        <p:spPr>
          <a:xfrm>
            <a:off x="2306067" y="475805"/>
            <a:ext cx="7579864" cy="695960"/>
          </a:xfrm>
          <a:prstGeom prst="rect">
            <a:avLst/>
          </a:prstGeom>
        </p:spPr>
        <p:txBody>
          <a:bodyPr wrap="square" lIns="0" tIns="0" rIns="0" bIns="0">
            <a:spAutoFit/>
          </a:bodyPr>
          <a:lstStyle>
            <a:lvl1pPr>
              <a:defRPr sz="4400" b="0" i="0">
                <a:solidFill>
                  <a:schemeClr val="tx1"/>
                </a:solidFill>
                <a:latin typeface="Cambria" panose="02040503050406030204"/>
                <a:cs typeface="Cambria" panose="02040503050406030204"/>
              </a:defRPr>
            </a:lvl1pPr>
          </a:lstStyle>
          <a:p>
            <a:endParaRPr/>
          </a:p>
        </p:txBody>
      </p:sp>
      <p:sp>
        <p:nvSpPr>
          <p:cNvPr id="3" name="Holder 3"/>
          <p:cNvSpPr>
            <a:spLocks noGrp="1"/>
          </p:cNvSpPr>
          <p:nvPr>
            <p:ph type="body" idx="1"/>
          </p:nvPr>
        </p:nvSpPr>
        <p:spPr>
          <a:xfrm>
            <a:off x="705687" y="1609345"/>
            <a:ext cx="10641330" cy="1976120"/>
          </a:xfrm>
          <a:prstGeom prst="rect">
            <a:avLst/>
          </a:prstGeom>
        </p:spPr>
        <p:txBody>
          <a:bodyPr wrap="square" lIns="0" tIns="0" rIns="0" bIns="0">
            <a:spAutoFit/>
          </a:bodyPr>
          <a:lstStyle>
            <a:lvl1pPr>
              <a:defRPr sz="3200" b="0" i="0">
                <a:solidFill>
                  <a:schemeClr val="tx1"/>
                </a:solidFill>
                <a:latin typeface="Cambria" panose="02040503050406030204"/>
                <a:cs typeface="Cambria" panose="02040503050406030204"/>
              </a:defRPr>
            </a:lvl1pPr>
          </a:lstStyle>
          <a:p>
            <a:endParaRPr/>
          </a:p>
        </p:txBody>
      </p:sp>
      <p:sp>
        <p:nvSpPr>
          <p:cNvPr id="4" name="Holder 4"/>
          <p:cNvSpPr>
            <a:spLocks noGrp="1"/>
          </p:cNvSpPr>
          <p:nvPr>
            <p:ph type="ftr" sz="quarter" idx="5"/>
          </p:nvPr>
        </p:nvSpPr>
        <p:spPr>
          <a:xfrm>
            <a:off x="4037998" y="6278489"/>
            <a:ext cx="4923790" cy="534905"/>
          </a:xfrm>
          <a:prstGeom prst="rect">
            <a:avLst/>
          </a:prstGeom>
        </p:spPr>
        <p:txBody>
          <a:bodyPr wrap="square" lIns="0" tIns="0" rIns="0" bIns="0">
            <a:spAutoFit/>
          </a:bodyPr>
          <a:lstStyle>
            <a:lvl1pPr>
              <a:defRPr sz="1800" b="0" i="0">
                <a:solidFill>
                  <a:schemeClr val="tx1"/>
                </a:solidFill>
                <a:latin typeface="Cambria" panose="02040503050406030204"/>
                <a:cs typeface="Cambria" panose="02040503050406030204"/>
              </a:defRPr>
            </a:lvl1pPr>
          </a:lstStyle>
          <a:p>
            <a:pPr algn="ctr">
              <a:lnSpc>
                <a:spcPts val="1810"/>
              </a:lnSpc>
            </a:pPr>
            <a:r>
              <a:rPr dirty="0">
                <a:latin typeface="Calibri" panose="020F0502020204030204"/>
                <a:cs typeface="Calibri" panose="020F0502020204030204"/>
              </a:rPr>
              <a:t>DEPARTMENT</a:t>
            </a:r>
            <a:r>
              <a:rPr spc="-4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COMPUTER</a:t>
            </a:r>
            <a:r>
              <a:rPr spc="-30" dirty="0">
                <a:latin typeface="Calibri" panose="020F0502020204030204"/>
                <a:cs typeface="Calibri" panose="020F0502020204030204"/>
              </a:rPr>
              <a:t> </a:t>
            </a:r>
            <a:r>
              <a:rPr spc="-10" dirty="0">
                <a:latin typeface="Calibri" panose="020F0502020204030204"/>
                <a:cs typeface="Calibri" panose="020F0502020204030204"/>
              </a:rPr>
              <a:t>ENGINEERING</a:t>
            </a:r>
          </a:p>
          <a:p>
            <a:pPr algn="ctr">
              <a:lnSpc>
                <a:spcPct val="100000"/>
              </a:lnSpc>
            </a:pPr>
            <a:r>
              <a:rPr dirty="0">
                <a:latin typeface="Calibri" panose="020F0502020204030204"/>
                <a:cs typeface="Calibri" panose="020F0502020204030204"/>
              </a:rPr>
              <a:t>*Proprietary</a:t>
            </a:r>
            <a:r>
              <a:rPr spc="-45" dirty="0">
                <a:latin typeface="Calibri" panose="020F0502020204030204"/>
                <a:cs typeface="Calibri" panose="020F0502020204030204"/>
              </a:rPr>
              <a:t> </a:t>
            </a:r>
            <a:r>
              <a:rPr dirty="0">
                <a:latin typeface="Calibri" panose="020F0502020204030204"/>
                <a:cs typeface="Calibri" panose="020F0502020204030204"/>
              </a:rPr>
              <a:t>material</a:t>
            </a:r>
            <a:r>
              <a:rPr spc="-3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SILVER</a:t>
            </a:r>
            <a:r>
              <a:rPr spc="-35" dirty="0">
                <a:latin typeface="Calibri" panose="020F0502020204030204"/>
                <a:cs typeface="Calibri" panose="020F0502020204030204"/>
              </a:rPr>
              <a:t> </a:t>
            </a:r>
            <a:r>
              <a:rPr dirty="0">
                <a:latin typeface="Calibri" panose="020F0502020204030204"/>
                <a:cs typeface="Calibri" panose="020F0502020204030204"/>
              </a:rPr>
              <a:t>OAK</a:t>
            </a:r>
            <a:r>
              <a:rPr spc="-30" dirty="0">
                <a:latin typeface="Calibri" panose="020F0502020204030204"/>
                <a:cs typeface="Calibri" panose="020F0502020204030204"/>
              </a:rPr>
              <a:t> </a:t>
            </a:r>
            <a:r>
              <a:rPr spc="-10" dirty="0">
                <a:latin typeface="Calibri" panose="020F0502020204030204"/>
                <a:cs typeface="Calibri" panose="020F0502020204030204"/>
              </a:rPr>
              <a:t>UNIVERSITY</a:t>
            </a:r>
          </a:p>
        </p:txBody>
      </p:sp>
      <p:sp>
        <p:nvSpPr>
          <p:cNvPr id="5" name="Holder 5"/>
          <p:cNvSpPr>
            <a:spLocks noGrp="1"/>
          </p:cNvSpPr>
          <p:nvPr>
            <p:ph type="dt" sz="half" idx="6"/>
          </p:nvPr>
        </p:nvSpPr>
        <p:spPr>
          <a:xfrm>
            <a:off x="682625" y="6466765"/>
            <a:ext cx="735965" cy="177800"/>
          </a:xfrm>
          <a:prstGeom prst="rect">
            <a:avLst/>
          </a:prstGeom>
        </p:spPr>
        <p:txBody>
          <a:bodyPr wrap="square" lIns="0" tIns="0" rIns="0" bIns="0">
            <a:spAutoFit/>
          </a:bodyPr>
          <a:lstStyle>
            <a:lvl1pPr>
              <a:defRPr sz="1200" b="0" i="0">
                <a:solidFill>
                  <a:srgbClr val="888888"/>
                </a:solidFill>
                <a:latin typeface="Calibri" panose="020F0502020204030204"/>
                <a:cs typeface="Calibri" panose="020F0502020204030204"/>
              </a:defRPr>
            </a:lvl1pPr>
          </a:lstStyle>
          <a:p>
            <a:pPr marL="12700">
              <a:lnSpc>
                <a:spcPts val="1240"/>
              </a:lnSpc>
            </a:pPr>
            <a:r>
              <a:rPr spc="-20" dirty="0"/>
              <a:t>10-09-2025</a:t>
            </a:r>
          </a:p>
        </p:txBody>
      </p:sp>
      <p:sp>
        <p:nvSpPr>
          <p:cNvPr id="6" name="Holder 6"/>
          <p:cNvSpPr>
            <a:spLocks noGrp="1"/>
          </p:cNvSpPr>
          <p:nvPr>
            <p:ph type="sldNum" sz="quarter" idx="7"/>
          </p:nvPr>
        </p:nvSpPr>
        <p:spPr>
          <a:xfrm>
            <a:off x="11329591" y="6466765"/>
            <a:ext cx="218211" cy="177800"/>
          </a:xfrm>
          <a:prstGeom prst="rect">
            <a:avLst/>
          </a:prstGeom>
        </p:spPr>
        <p:txBody>
          <a:bodyPr wrap="square" lIns="0" tIns="0" rIns="0" bIns="0">
            <a:spAutoFit/>
          </a:bodyPr>
          <a:lstStyle>
            <a:lvl1pPr>
              <a:defRPr sz="1200" b="0" i="0">
                <a:solidFill>
                  <a:srgbClr val="888888"/>
                </a:solidFill>
                <a:latin typeface="Calibri" panose="020F0502020204030204"/>
                <a:cs typeface="Calibri" panose="020F0502020204030204"/>
              </a:defRPr>
            </a:lvl1pPr>
          </a:lstStyle>
          <a:p>
            <a:pPr marL="89535">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journal.gomit.id/jsseis/article/view/70" TargetMode="External"/><Relationship Id="rId2" Type="http://schemas.openxmlformats.org/officeDocument/2006/relationships/hyperlink" Target="https://www.ijirset.com/upload/2024/april/33_Personalized.pdf" TargetMode="External"/><Relationship Id="rId1" Type="http://schemas.openxmlformats.org/officeDocument/2006/relationships/slideLayout" Target="../slideLayouts/slideLayout4.xml"/><Relationship Id="rId6" Type="http://schemas.openxmlformats.org/officeDocument/2006/relationships/hyperlink" Target="https://www.ijsdr.org/papers/IJSDR2511109.pdf" TargetMode="External"/><Relationship Id="rId5" Type="http://schemas.openxmlformats.org/officeDocument/2006/relationships/hyperlink" Target="https://ijrpr.com/uploads/V6ISSUE7/IJRPR50882.pdf" TargetMode="External"/><Relationship Id="rId4" Type="http://schemas.openxmlformats.org/officeDocument/2006/relationships/hyperlink" Target="https://ijcrt.org/viewpaperforall.php?paper=IJCRT2609024"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ijcrt.org/papers/IJCRT24A5643.pdf" TargetMode="External"/><Relationship Id="rId2" Type="http://schemas.openxmlformats.org/officeDocument/2006/relationships/hyperlink" Target="https://ijrpr.com/uploads/V5ISSUE5/IJRPR27476.pdf" TargetMode="External"/><Relationship Id="rId1" Type="http://schemas.openxmlformats.org/officeDocument/2006/relationships/slideLayout" Target="../slideLayouts/slideLayout4.xml"/><Relationship Id="rId5" Type="http://schemas.openxmlformats.org/officeDocument/2006/relationships/hyperlink" Target="https://www.ijisrt.com/assets/upload/files/IJISRT25SEP264.pdf" TargetMode="External"/><Relationship Id="rId4" Type="http://schemas.openxmlformats.org/officeDocument/2006/relationships/hyperlink" Target="https://rjwave.org/jaafr/papers/JAAFR26A5269.pdf"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aistudio.google.com/" TargetMode="External"/><Relationship Id="rId2" Type="http://schemas.openxmlformats.org/officeDocument/2006/relationships/hyperlink" Target="https://www.perplexity.ai/" TargetMode="External"/><Relationship Id="rId1" Type="http://schemas.openxmlformats.org/officeDocument/2006/relationships/slideLayout" Target="../slideLayouts/slideLayout2.xml"/><Relationship Id="rId5" Type="http://schemas.openxmlformats.org/officeDocument/2006/relationships/hyperlink" Target="https://ai.google.dev/gemini-api/docs" TargetMode="External"/><Relationship Id="rId4" Type="http://schemas.openxmlformats.org/officeDocument/2006/relationships/hyperlink" Target="https://notebooklm.googl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76600" y="720466"/>
            <a:ext cx="4800599" cy="3306033"/>
          </a:xfrm>
          <a:prstGeom prst="rect">
            <a:avLst/>
          </a:prstGeom>
        </p:spPr>
        <p:txBody>
          <a:bodyPr vert="horz" wrap="square" lIns="0" tIns="12700" rIns="0" bIns="0" rtlCol="0">
            <a:spAutoFit/>
          </a:bodyPr>
          <a:lstStyle/>
          <a:p>
            <a:pPr algn="ctr">
              <a:lnSpc>
                <a:spcPct val="100000"/>
              </a:lnSpc>
            </a:pPr>
            <a:endParaRPr lang="en-IN" sz="2800" b="1" dirty="0">
              <a:latin typeface="Times New Roman" panose="02020603050405020304"/>
              <a:cs typeface="Times New Roman" panose="02020603050405020304"/>
            </a:endParaRPr>
          </a:p>
          <a:p>
            <a:pPr algn="ctr">
              <a:lnSpc>
                <a:spcPct val="100000"/>
              </a:lnSpc>
            </a:pPr>
            <a:r>
              <a:rPr lang="en-IN" sz="2800" b="1" dirty="0">
                <a:latin typeface="Times New Roman" panose="02020603050405020304"/>
                <a:cs typeface="Times New Roman" panose="02020603050405020304"/>
              </a:rPr>
              <a:t>MINOR PROJECT</a:t>
            </a:r>
          </a:p>
          <a:p>
            <a:pPr algn="ctr">
              <a:lnSpc>
                <a:spcPct val="100000"/>
              </a:lnSpc>
            </a:pPr>
            <a:r>
              <a:rPr lang="en-IN" sz="2800" b="1" dirty="0">
                <a:latin typeface="Times New Roman" panose="02020603050405020304"/>
                <a:cs typeface="Times New Roman" panose="02020603050405020304"/>
              </a:rPr>
              <a:t>10101043494</a:t>
            </a:r>
          </a:p>
          <a:p>
            <a:pPr algn="ctr">
              <a:lnSpc>
                <a:spcPct val="100000"/>
              </a:lnSpc>
            </a:pPr>
            <a:endParaRPr sz="2800" dirty="0">
              <a:latin typeface="Times New Roman" panose="02020603050405020304"/>
              <a:cs typeface="Times New Roman" panose="02020603050405020304"/>
            </a:endParaRPr>
          </a:p>
          <a:p>
            <a:pPr marL="2540" algn="ctr"/>
            <a:r>
              <a:rPr lang="en-US" sz="2400" b="1" dirty="0">
                <a:latin typeface="Times New Roman" panose="02020603050405020304" pitchFamily="18" charset="0"/>
                <a:cs typeface="Times New Roman" panose="02020603050405020304" pitchFamily="18" charset="0"/>
              </a:rPr>
              <a:t>AI SMART KNOWLEDGE MANAGEMENT PLATFORM </a:t>
            </a:r>
            <a:endParaRPr lang="en-US" sz="2400" dirty="0">
              <a:latin typeface="Times New Roman" panose="02020603050405020304"/>
              <a:cs typeface="Times New Roman" panose="02020603050405020304"/>
            </a:endParaRPr>
          </a:p>
          <a:p>
            <a:pPr marL="2540" algn="ctr">
              <a:lnSpc>
                <a:spcPct val="100000"/>
              </a:lnSpc>
            </a:pPr>
            <a:endParaRPr sz="5400" dirty="0">
              <a:latin typeface="Times New Roman" panose="02020603050405020304"/>
              <a:cs typeface="Times New Roman" panose="02020603050405020304"/>
            </a:endParaRPr>
          </a:p>
        </p:txBody>
      </p:sp>
      <p:pic>
        <p:nvPicPr>
          <p:cNvPr id="3" name="object 3"/>
          <p:cNvPicPr/>
          <p:nvPr/>
        </p:nvPicPr>
        <p:blipFill>
          <a:blip r:embed="rId2" cstate="print"/>
          <a:stretch>
            <a:fillRect/>
          </a:stretch>
        </p:blipFill>
        <p:spPr>
          <a:xfrm>
            <a:off x="8898992" y="0"/>
            <a:ext cx="3292997" cy="711999"/>
          </a:xfrm>
          <a:prstGeom prst="rect">
            <a:avLst/>
          </a:prstGeom>
        </p:spPr>
      </p:pic>
      <p:graphicFrame>
        <p:nvGraphicFramePr>
          <p:cNvPr id="4" name="object 4"/>
          <p:cNvGraphicFramePr>
            <a:graphicFrameLocks noGrp="1"/>
          </p:cNvGraphicFramePr>
          <p:nvPr>
            <p:extLst>
              <p:ext uri="{D42A27DB-BD31-4B8C-83A1-F6EECF244321}">
                <p14:modId xmlns:p14="http://schemas.microsoft.com/office/powerpoint/2010/main" val="194407365"/>
              </p:ext>
            </p:extLst>
          </p:nvPr>
        </p:nvGraphicFramePr>
        <p:xfrm>
          <a:off x="1032049" y="3886200"/>
          <a:ext cx="9712151" cy="2980198"/>
        </p:xfrm>
        <a:graphic>
          <a:graphicData uri="http://schemas.openxmlformats.org/drawingml/2006/table">
            <a:tbl>
              <a:tblPr firstRow="1" bandRow="1">
                <a:tableStyleId>{2D5ABB26-0587-4C30-8999-92F81FD0307C}</a:tableStyleId>
              </a:tblPr>
              <a:tblGrid>
                <a:gridCol w="3945677">
                  <a:extLst>
                    <a:ext uri="{9D8B030D-6E8A-4147-A177-3AD203B41FA5}">
                      <a16:colId xmlns:a16="http://schemas.microsoft.com/office/drawing/2014/main" val="20000"/>
                    </a:ext>
                  </a:extLst>
                </a:gridCol>
                <a:gridCol w="5766474">
                  <a:extLst>
                    <a:ext uri="{9D8B030D-6E8A-4147-A177-3AD203B41FA5}">
                      <a16:colId xmlns:a16="http://schemas.microsoft.com/office/drawing/2014/main" val="20001"/>
                    </a:ext>
                  </a:extLst>
                </a:gridCol>
              </a:tblGrid>
              <a:tr h="533203">
                <a:tc>
                  <a:txBody>
                    <a:bodyPr/>
                    <a:lstStyle/>
                    <a:p>
                      <a:pPr marL="85725">
                        <a:lnSpc>
                          <a:spcPct val="100000"/>
                        </a:lnSpc>
                        <a:spcBef>
                          <a:spcPts val="580"/>
                        </a:spcBef>
                      </a:pPr>
                      <a:r>
                        <a:rPr sz="2300" b="1" dirty="0">
                          <a:solidFill>
                            <a:srgbClr val="FFFFFF"/>
                          </a:solidFill>
                          <a:latin typeface="Cambria" panose="02040503050406030204"/>
                          <a:cs typeface="Cambria" panose="02040503050406030204"/>
                        </a:rPr>
                        <a:t>Project</a:t>
                      </a:r>
                      <a:r>
                        <a:rPr sz="2300" b="1" spc="-114" dirty="0">
                          <a:solidFill>
                            <a:srgbClr val="FFFFFF"/>
                          </a:solidFill>
                          <a:latin typeface="Cambria" panose="02040503050406030204"/>
                          <a:cs typeface="Cambria" panose="02040503050406030204"/>
                        </a:rPr>
                        <a:t> </a:t>
                      </a:r>
                      <a:r>
                        <a:rPr sz="2300" b="1" spc="-25" dirty="0">
                          <a:solidFill>
                            <a:srgbClr val="FFFFFF"/>
                          </a:solidFill>
                          <a:latin typeface="Cambria" panose="02040503050406030204"/>
                          <a:cs typeface="Cambria" panose="02040503050406030204"/>
                        </a:rPr>
                        <a:t>ID</a:t>
                      </a:r>
                      <a:endParaRPr sz="2300">
                        <a:latin typeface="Cambria" panose="02040503050406030204"/>
                        <a:cs typeface="Cambria" panose="02040503050406030204"/>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r>
                        <a:rPr lang="en-IN" sz="1600" b="1" dirty="0">
                          <a:latin typeface="Times New Roman" panose="02020603050405020304" pitchFamily="18" charset="0"/>
                          <a:cs typeface="Times New Roman" panose="02020603050405020304" pitchFamily="18" charset="0"/>
                        </a:rPr>
                        <a:t> </a:t>
                      </a:r>
                      <a:r>
                        <a:rPr lang="en-IN" sz="1800" b="1" dirty="0">
                          <a:solidFill>
                            <a:schemeClr val="bg1"/>
                          </a:solidFill>
                          <a:latin typeface="Times New Roman" panose="02020603050405020304" pitchFamily="18" charset="0"/>
                          <a:cs typeface="Times New Roman" panose="02020603050405020304" pitchFamily="18" charset="0"/>
                        </a:rPr>
                        <a:t>M2_CE_042  </a:t>
                      </a: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0"/>
                  </a:ext>
                </a:extLst>
              </a:tr>
              <a:tr h="647462">
                <a:tc>
                  <a:txBody>
                    <a:bodyPr/>
                    <a:lstStyle/>
                    <a:p>
                      <a:pPr marL="85725">
                        <a:lnSpc>
                          <a:spcPct val="100000"/>
                        </a:lnSpc>
                        <a:spcBef>
                          <a:spcPts val="580"/>
                        </a:spcBef>
                      </a:pPr>
                      <a:r>
                        <a:rPr sz="2300" b="1" spc="-10" dirty="0">
                          <a:solidFill>
                            <a:srgbClr val="FFFFFF"/>
                          </a:solidFill>
                          <a:latin typeface="Cambria" panose="02040503050406030204"/>
                          <a:cs typeface="Cambria" panose="02040503050406030204"/>
                        </a:rPr>
                        <a:t>Enrollment</a:t>
                      </a:r>
                      <a:r>
                        <a:rPr sz="2300" b="1" spc="-75" dirty="0">
                          <a:solidFill>
                            <a:srgbClr val="FFFFFF"/>
                          </a:solidFill>
                          <a:latin typeface="Cambria" panose="02040503050406030204"/>
                          <a:cs typeface="Cambria" panose="02040503050406030204"/>
                        </a:rPr>
                        <a:t> </a:t>
                      </a:r>
                      <a:r>
                        <a:rPr sz="2300" b="1" spc="-25" dirty="0">
                          <a:solidFill>
                            <a:srgbClr val="FFFFFF"/>
                          </a:solidFill>
                          <a:latin typeface="Cambria" panose="02040503050406030204"/>
                          <a:cs typeface="Cambria" panose="02040503050406030204"/>
                        </a:rPr>
                        <a:t>No</a:t>
                      </a:r>
                      <a:endParaRPr sz="2300">
                        <a:latin typeface="Cambria" panose="02040503050406030204"/>
                        <a:cs typeface="Cambria" panose="02040503050406030204"/>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r>
                        <a:rPr lang="en-IN" altLang="en-US" sz="2000" b="1" dirty="0">
                          <a:solidFill>
                            <a:schemeClr val="bg1"/>
                          </a:solidFill>
                          <a:latin typeface="Times New Roman" panose="02020603050405020304"/>
                          <a:cs typeface="Times New Roman" panose="02020603050405020304"/>
                        </a:rPr>
                        <a:t> </a:t>
                      </a:r>
                      <a:r>
                        <a:rPr lang="en-US" sz="1800" b="1" dirty="0">
                          <a:solidFill>
                            <a:schemeClr val="bg1"/>
                          </a:solidFill>
                          <a:latin typeface="Times New Roman" panose="02020603050405020304"/>
                          <a:cs typeface="Times New Roman" panose="02020603050405020304"/>
                        </a:rPr>
                        <a:t>2402030430064, 2402030430024, 2402030430010</a:t>
                      </a: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1"/>
                  </a:ext>
                </a:extLst>
              </a:tr>
              <a:tr h="799805">
                <a:tc>
                  <a:txBody>
                    <a:bodyPr/>
                    <a:lstStyle/>
                    <a:p>
                      <a:pPr marL="85725">
                        <a:lnSpc>
                          <a:spcPct val="100000"/>
                        </a:lnSpc>
                        <a:spcBef>
                          <a:spcPts val="580"/>
                        </a:spcBef>
                      </a:pPr>
                      <a:r>
                        <a:rPr sz="2300" b="1" spc="-20" dirty="0">
                          <a:solidFill>
                            <a:srgbClr val="FFFFFF"/>
                          </a:solidFill>
                          <a:latin typeface="Cambria" panose="02040503050406030204"/>
                          <a:cs typeface="Cambria" panose="02040503050406030204"/>
                        </a:rPr>
                        <a:t>Nam</a:t>
                      </a:r>
                      <a:r>
                        <a:rPr lang="en-IN" sz="2300" b="1" spc="-20" dirty="0">
                          <a:solidFill>
                            <a:srgbClr val="FFFFFF"/>
                          </a:solidFill>
                          <a:latin typeface="Cambria" panose="02040503050406030204"/>
                          <a:cs typeface="Cambria" panose="02040503050406030204"/>
                        </a:rPr>
                        <a:t>e</a:t>
                      </a:r>
                      <a:endParaRPr sz="2300" dirty="0">
                        <a:latin typeface="Cambria" panose="02040503050406030204"/>
                        <a:cs typeface="Cambria" panose="02040503050406030204"/>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r>
                        <a:rPr lang="en-US" sz="1600" b="0" dirty="0">
                          <a:latin typeface="Times New Roman" panose="02020603050405020304"/>
                          <a:cs typeface="Times New Roman" panose="02020603050405020304"/>
                        </a:rPr>
                        <a:t> </a:t>
                      </a:r>
                      <a:r>
                        <a:rPr lang="en-US" sz="1600" b="1" dirty="0">
                          <a:solidFill>
                            <a:schemeClr val="bg1"/>
                          </a:solidFill>
                          <a:latin typeface="Times New Roman" panose="02020603050405020304"/>
                          <a:cs typeface="Times New Roman" panose="02020603050405020304"/>
                        </a:rPr>
                        <a:t>Shah Prem </a:t>
                      </a:r>
                      <a:r>
                        <a:rPr lang="en-US" sz="1600" b="1" dirty="0" err="1">
                          <a:solidFill>
                            <a:schemeClr val="bg1"/>
                          </a:solidFill>
                          <a:latin typeface="Times New Roman" panose="02020603050405020304"/>
                          <a:cs typeface="Times New Roman" panose="02020603050405020304"/>
                        </a:rPr>
                        <a:t>Jignesh</a:t>
                      </a:r>
                      <a:r>
                        <a:rPr lang="en-IN" altLang="en-US" sz="1600" b="1" dirty="0" err="1">
                          <a:solidFill>
                            <a:schemeClr val="bg1"/>
                          </a:solidFill>
                          <a:latin typeface="Times New Roman" panose="02020603050405020304"/>
                          <a:cs typeface="Times New Roman" panose="02020603050405020304"/>
                        </a:rPr>
                        <a:t>K</a:t>
                      </a:r>
                      <a:r>
                        <a:rPr lang="en-US" sz="1600" b="1" dirty="0" err="1">
                          <a:solidFill>
                            <a:schemeClr val="bg1"/>
                          </a:solidFill>
                          <a:latin typeface="Times New Roman" panose="02020603050405020304"/>
                          <a:cs typeface="Times New Roman" panose="02020603050405020304"/>
                        </a:rPr>
                        <a:t>umar</a:t>
                      </a:r>
                      <a:r>
                        <a:rPr lang="en-US" sz="1600" b="1" dirty="0">
                          <a:solidFill>
                            <a:schemeClr val="bg1"/>
                          </a:solidFill>
                          <a:latin typeface="Times New Roman" panose="02020603050405020304"/>
                          <a:cs typeface="Times New Roman" panose="02020603050405020304"/>
                        </a:rPr>
                        <a:t>  </a:t>
                      </a:r>
                    </a:p>
                    <a:p>
                      <a:pPr>
                        <a:lnSpc>
                          <a:spcPct val="100000"/>
                        </a:lnSpc>
                      </a:pPr>
                      <a:r>
                        <a:rPr lang="en-US" sz="1600" b="1" dirty="0">
                          <a:solidFill>
                            <a:schemeClr val="bg1"/>
                          </a:solidFill>
                          <a:latin typeface="Times New Roman" panose="02020603050405020304"/>
                          <a:cs typeface="Times New Roman" panose="02020603050405020304"/>
                        </a:rPr>
                        <a:t> Shah Jeet </a:t>
                      </a:r>
                      <a:r>
                        <a:rPr lang="en-IN" altLang="en-US" sz="1600" b="1" dirty="0">
                          <a:solidFill>
                            <a:schemeClr val="bg1"/>
                          </a:solidFill>
                          <a:latin typeface="Times New Roman" panose="02020603050405020304"/>
                          <a:cs typeface="Times New Roman" panose="02020603050405020304"/>
                        </a:rPr>
                        <a:t>MehulBhai</a:t>
                      </a:r>
                      <a:r>
                        <a:rPr lang="en-US" sz="1600" b="1" dirty="0">
                          <a:solidFill>
                            <a:schemeClr val="bg1"/>
                          </a:solidFill>
                          <a:latin typeface="Times New Roman" panose="02020603050405020304"/>
                          <a:cs typeface="Times New Roman" panose="02020603050405020304"/>
                        </a:rPr>
                        <a:t> </a:t>
                      </a:r>
                    </a:p>
                    <a:p>
                      <a:pPr>
                        <a:lnSpc>
                          <a:spcPct val="100000"/>
                        </a:lnSpc>
                      </a:pPr>
                      <a:r>
                        <a:rPr lang="en-US" sz="1600" b="1" dirty="0">
                          <a:solidFill>
                            <a:schemeClr val="bg1"/>
                          </a:solidFill>
                          <a:latin typeface="Times New Roman" panose="02020603050405020304"/>
                          <a:cs typeface="Times New Roman" panose="02020603050405020304"/>
                        </a:rPr>
                        <a:t> Shah Jash </a:t>
                      </a:r>
                      <a:r>
                        <a:rPr lang="en-IN" altLang="en-US" sz="1600" b="1" dirty="0">
                          <a:solidFill>
                            <a:schemeClr val="bg1"/>
                          </a:solidFill>
                          <a:latin typeface="Times New Roman" panose="02020603050405020304"/>
                          <a:cs typeface="Times New Roman" panose="02020603050405020304"/>
                        </a:rPr>
                        <a:t>PriteshKumar</a:t>
                      </a: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2"/>
                  </a:ext>
                </a:extLst>
              </a:tr>
              <a:tr h="450012">
                <a:tc>
                  <a:txBody>
                    <a:bodyPr/>
                    <a:lstStyle/>
                    <a:p>
                      <a:pPr marL="85725">
                        <a:lnSpc>
                          <a:spcPct val="100000"/>
                        </a:lnSpc>
                        <a:spcBef>
                          <a:spcPts val="580"/>
                        </a:spcBef>
                      </a:pPr>
                      <a:r>
                        <a:rPr sz="2300" b="1" spc="-10" dirty="0">
                          <a:solidFill>
                            <a:srgbClr val="FFFFFF"/>
                          </a:solidFill>
                          <a:latin typeface="Cambria" panose="02040503050406030204"/>
                          <a:cs typeface="Cambria" panose="02040503050406030204"/>
                        </a:rPr>
                        <a:t>Branch</a:t>
                      </a:r>
                      <a:endParaRPr sz="2300">
                        <a:latin typeface="Cambria" panose="02040503050406030204"/>
                        <a:cs typeface="Cambria" panose="02040503050406030204"/>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r>
                        <a:rPr lang="en-IN" altLang="en-US" sz="1800" b="1" dirty="0" err="1">
                          <a:latin typeface="Times New Roman" panose="02020603050405020304"/>
                          <a:cs typeface="Times New Roman" panose="02020603050405020304"/>
                        </a:rPr>
                        <a:t> </a:t>
                      </a:r>
                      <a:r>
                        <a:rPr lang="en-US" sz="1800" b="1" dirty="0" err="1">
                          <a:solidFill>
                            <a:schemeClr val="bg1"/>
                          </a:solidFill>
                          <a:latin typeface="Times New Roman" panose="02020603050405020304"/>
                          <a:cs typeface="Times New Roman" panose="02020603050405020304"/>
                        </a:rPr>
                        <a:t>B.Tech</a:t>
                      </a:r>
                      <a:r>
                        <a:rPr lang="en-US" sz="1800" b="1" dirty="0">
                          <a:solidFill>
                            <a:schemeClr val="bg1"/>
                          </a:solidFill>
                          <a:latin typeface="Times New Roman" panose="02020603050405020304"/>
                          <a:cs typeface="Times New Roman" panose="02020603050405020304"/>
                        </a:rPr>
                        <a:t> </a:t>
                      </a:r>
                      <a:r>
                        <a:rPr lang="en-IN" altLang="en-US" sz="1800" b="1" dirty="0">
                          <a:solidFill>
                            <a:schemeClr val="bg1"/>
                          </a:solidFill>
                          <a:latin typeface="Times New Roman" panose="02020603050405020304"/>
                          <a:cs typeface="Times New Roman" panose="02020603050405020304"/>
                        </a:rPr>
                        <a:t>(C.E)</a:t>
                      </a:r>
                      <a:endParaRPr lang="en-US" sz="1800" b="1" dirty="0">
                        <a:solidFill>
                          <a:schemeClr val="bg1"/>
                        </a:solidFill>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3"/>
                  </a:ext>
                </a:extLst>
              </a:tr>
              <a:tr h="549716">
                <a:tc>
                  <a:txBody>
                    <a:bodyPr/>
                    <a:lstStyle/>
                    <a:p>
                      <a:pPr marL="85725">
                        <a:lnSpc>
                          <a:spcPct val="100000"/>
                        </a:lnSpc>
                        <a:spcBef>
                          <a:spcPts val="580"/>
                        </a:spcBef>
                      </a:pPr>
                      <a:r>
                        <a:rPr sz="2300" b="1" dirty="0">
                          <a:solidFill>
                            <a:srgbClr val="FFFFFF"/>
                          </a:solidFill>
                          <a:latin typeface="Cambria" panose="02040503050406030204"/>
                          <a:cs typeface="Cambria" panose="02040503050406030204"/>
                        </a:rPr>
                        <a:t>Guide</a:t>
                      </a:r>
                      <a:r>
                        <a:rPr sz="2300" b="1" spc="-90" dirty="0">
                          <a:solidFill>
                            <a:srgbClr val="FFFFFF"/>
                          </a:solidFill>
                          <a:latin typeface="Cambria" panose="02040503050406030204"/>
                          <a:cs typeface="Cambria" panose="02040503050406030204"/>
                        </a:rPr>
                        <a:t> </a:t>
                      </a:r>
                      <a:r>
                        <a:rPr sz="2300" b="1" spc="-20" dirty="0">
                          <a:solidFill>
                            <a:srgbClr val="FFFFFF"/>
                          </a:solidFill>
                          <a:latin typeface="Cambria" panose="02040503050406030204"/>
                          <a:cs typeface="Cambria" panose="02040503050406030204"/>
                        </a:rPr>
                        <a:t>Name</a:t>
                      </a:r>
                      <a:endParaRPr sz="2300">
                        <a:latin typeface="Cambria" panose="02040503050406030204"/>
                        <a:cs typeface="Cambria" panose="02040503050406030204"/>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r>
                        <a:rPr lang="en-IN" altLang="en-US" sz="2000" b="1" dirty="0" err="1">
                          <a:latin typeface="Times New Roman" panose="02020603050405020304"/>
                          <a:cs typeface="Times New Roman" panose="02020603050405020304"/>
                        </a:rPr>
                        <a:t> </a:t>
                      </a:r>
                      <a:r>
                        <a:rPr lang="en-US" sz="1800" b="1" dirty="0">
                          <a:solidFill>
                            <a:schemeClr val="bg1"/>
                          </a:solidFill>
                          <a:latin typeface="Times New Roman" panose="02020603050405020304"/>
                          <a:cs typeface="Times New Roman" panose="02020603050405020304"/>
                        </a:rPr>
                        <a:t>Prof. Kruti Sheth</a:t>
                      </a: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3116580">
              <a:lnSpc>
                <a:spcPct val="100000"/>
              </a:lnSpc>
              <a:spcBef>
                <a:spcPts val="100"/>
              </a:spcBef>
            </a:pPr>
            <a:r>
              <a:rPr spc="-10" dirty="0">
                <a:latin typeface="Times New Roman" panose="02020603050405020304" pitchFamily="18" charset="0"/>
                <a:cs typeface="Times New Roman" panose="02020603050405020304" pitchFamily="18" charset="0"/>
              </a:rPr>
              <a:t>Index</a:t>
            </a:r>
          </a:p>
        </p:txBody>
      </p:sp>
      <p:sp>
        <p:nvSpPr>
          <p:cNvPr id="3" name="object 3"/>
          <p:cNvSpPr txBox="1"/>
          <p:nvPr/>
        </p:nvSpPr>
        <p:spPr>
          <a:xfrm>
            <a:off x="1905000" y="1224311"/>
            <a:ext cx="5832475" cy="5308505"/>
          </a:xfrm>
          <a:prstGeom prst="rect">
            <a:avLst/>
          </a:prstGeom>
        </p:spPr>
        <p:txBody>
          <a:bodyPr vert="horz" wrap="square" lIns="0" tIns="45085" rIns="0" bIns="0" rtlCol="0">
            <a:spAutoFit/>
          </a:bodyPr>
          <a:lstStyle/>
          <a:p>
            <a:pPr marL="330835" indent="-318135">
              <a:lnSpc>
                <a:spcPct val="100000"/>
              </a:lnSpc>
              <a:spcBef>
                <a:spcPts val="355"/>
              </a:spcBef>
              <a:buChar char="•"/>
              <a:tabLst>
                <a:tab pos="330835" algn="l"/>
              </a:tabLst>
            </a:pPr>
            <a:r>
              <a:rPr sz="2400" spc="-10" dirty="0">
                <a:latin typeface="Times New Roman" panose="02020603050405020304" pitchFamily="18" charset="0"/>
                <a:cs typeface="Times New Roman" panose="02020603050405020304" pitchFamily="18" charset="0"/>
              </a:rPr>
              <a:t>Introduction</a:t>
            </a:r>
            <a:endParaRPr sz="2400" dirty="0">
              <a:latin typeface="Times New Roman" panose="02020603050405020304" pitchFamily="18" charset="0"/>
              <a:cs typeface="Times New Roman" panose="02020603050405020304" pitchFamily="18" charset="0"/>
            </a:endParaRPr>
          </a:p>
          <a:p>
            <a:pPr marL="330835" indent="-318135">
              <a:lnSpc>
                <a:spcPct val="100000"/>
              </a:lnSpc>
              <a:spcBef>
                <a:spcPts val="255"/>
              </a:spcBef>
              <a:buChar char="•"/>
              <a:tabLst>
                <a:tab pos="330835" algn="l"/>
              </a:tabLst>
            </a:pPr>
            <a:r>
              <a:rPr sz="2400" spc="-10" dirty="0">
                <a:latin typeface="Times New Roman" panose="02020603050405020304" pitchFamily="18" charset="0"/>
                <a:cs typeface="Times New Roman" panose="02020603050405020304" pitchFamily="18" charset="0"/>
              </a:rPr>
              <a:t>Background</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Motivation</a:t>
            </a:r>
            <a:endParaRPr sz="2400" dirty="0">
              <a:latin typeface="Times New Roman" panose="02020603050405020304" pitchFamily="18" charset="0"/>
              <a:cs typeface="Times New Roman" panose="02020603050405020304" pitchFamily="18" charset="0"/>
            </a:endParaRPr>
          </a:p>
          <a:p>
            <a:pPr marL="330835" indent="-318135">
              <a:lnSpc>
                <a:spcPct val="100000"/>
              </a:lnSpc>
              <a:spcBef>
                <a:spcPts val="255"/>
              </a:spcBef>
              <a:buChar char="•"/>
              <a:tabLst>
                <a:tab pos="330835" algn="l"/>
              </a:tabLst>
            </a:pPr>
            <a:r>
              <a:rPr sz="2400" spc="-10" dirty="0">
                <a:latin typeface="Times New Roman" panose="02020603050405020304" pitchFamily="18" charset="0"/>
                <a:cs typeface="Times New Roman" panose="02020603050405020304" pitchFamily="18" charset="0"/>
              </a:rPr>
              <a:t>Relevance</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Importance</a:t>
            </a:r>
            <a:endParaRPr sz="2400" dirty="0">
              <a:latin typeface="Times New Roman" panose="02020603050405020304" pitchFamily="18" charset="0"/>
              <a:cs typeface="Times New Roman" panose="02020603050405020304" pitchFamily="18" charset="0"/>
            </a:endParaRPr>
          </a:p>
          <a:p>
            <a:pPr marL="330835" indent="-318135">
              <a:lnSpc>
                <a:spcPct val="100000"/>
              </a:lnSpc>
              <a:spcBef>
                <a:spcPts val="255"/>
              </a:spcBef>
              <a:buChar char="•"/>
              <a:tabLst>
                <a:tab pos="330835" algn="l"/>
              </a:tabLst>
            </a:pPr>
            <a:r>
              <a:rPr sz="2400" spc="-10" dirty="0">
                <a:latin typeface="Times New Roman" panose="02020603050405020304" pitchFamily="18" charset="0"/>
                <a:cs typeface="Times New Roman" panose="02020603050405020304" pitchFamily="18" charset="0"/>
              </a:rPr>
              <a:t>Literature</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review</a:t>
            </a:r>
            <a:endParaRPr lang="en-IN" sz="2400" spc="-10" dirty="0">
              <a:latin typeface="Times New Roman" panose="02020603050405020304" pitchFamily="18" charset="0"/>
              <a:cs typeface="Times New Roman" panose="02020603050405020304" pitchFamily="18" charset="0"/>
            </a:endParaRPr>
          </a:p>
          <a:p>
            <a:pPr marL="330835" indent="-318135">
              <a:lnSpc>
                <a:spcPct val="100000"/>
              </a:lnSpc>
              <a:spcBef>
                <a:spcPts val="255"/>
              </a:spcBef>
              <a:buChar char="•"/>
              <a:tabLst>
                <a:tab pos="330835" algn="l"/>
              </a:tabLst>
            </a:pPr>
            <a:r>
              <a:rPr lang="en-IN" sz="2400" spc="-10" dirty="0">
                <a:latin typeface="Times New Roman" panose="02020603050405020304" pitchFamily="18" charset="0"/>
                <a:cs typeface="Times New Roman" panose="02020603050405020304" pitchFamily="18" charset="0"/>
              </a:rPr>
              <a:t>Research Gap</a:t>
            </a:r>
            <a:endParaRPr sz="2400" dirty="0">
              <a:latin typeface="Times New Roman" panose="02020603050405020304" pitchFamily="18" charset="0"/>
              <a:cs typeface="Times New Roman" panose="02020603050405020304" pitchFamily="18" charset="0"/>
            </a:endParaRPr>
          </a:p>
          <a:p>
            <a:pPr marL="330835" indent="-318135">
              <a:lnSpc>
                <a:spcPct val="100000"/>
              </a:lnSpc>
              <a:spcBef>
                <a:spcPts val="260"/>
              </a:spcBef>
              <a:buChar char="•"/>
              <a:tabLst>
                <a:tab pos="330835" algn="l"/>
              </a:tabLst>
            </a:pPr>
            <a:r>
              <a:rPr sz="2400" spc="-10" dirty="0">
                <a:latin typeface="Times New Roman" panose="02020603050405020304" pitchFamily="18" charset="0"/>
                <a:cs typeface="Times New Roman" panose="02020603050405020304" pitchFamily="18" charset="0"/>
              </a:rPr>
              <a:t>Objectives</a:t>
            </a:r>
            <a:endParaRPr sz="2400" dirty="0">
              <a:latin typeface="Times New Roman" panose="02020603050405020304" pitchFamily="18" charset="0"/>
              <a:cs typeface="Times New Roman" panose="02020603050405020304" pitchFamily="18" charset="0"/>
            </a:endParaRPr>
          </a:p>
          <a:p>
            <a:pPr marL="330835" indent="-318135">
              <a:lnSpc>
                <a:spcPct val="100000"/>
              </a:lnSpc>
              <a:spcBef>
                <a:spcPts val="255"/>
              </a:spcBef>
              <a:buChar char="•"/>
              <a:tabLst>
                <a:tab pos="330835" algn="l"/>
              </a:tabLst>
            </a:pPr>
            <a:r>
              <a:rPr sz="2400" dirty="0">
                <a:latin typeface="Times New Roman" panose="02020603050405020304" pitchFamily="18" charset="0"/>
                <a:cs typeface="Times New Roman" panose="02020603050405020304" pitchFamily="18" charset="0"/>
              </a:rPr>
              <a:t>Required</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Tools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Technology</a:t>
            </a:r>
            <a:endParaRPr sz="2400" dirty="0">
              <a:latin typeface="Times New Roman" panose="02020603050405020304" pitchFamily="18" charset="0"/>
              <a:cs typeface="Times New Roman" panose="02020603050405020304" pitchFamily="18" charset="0"/>
            </a:endParaRPr>
          </a:p>
          <a:p>
            <a:pPr marL="330835" indent="-318135">
              <a:lnSpc>
                <a:spcPct val="100000"/>
              </a:lnSpc>
              <a:spcBef>
                <a:spcPts val="255"/>
              </a:spcBef>
              <a:buChar char="•"/>
              <a:tabLst>
                <a:tab pos="330835" algn="l"/>
              </a:tabLst>
            </a:pPr>
            <a:r>
              <a:rPr sz="2400" dirty="0">
                <a:latin typeface="Times New Roman" panose="02020603050405020304" pitchFamily="18" charset="0"/>
                <a:cs typeface="Times New Roman" panose="02020603050405020304" pitchFamily="18" charset="0"/>
              </a:rPr>
              <a:t>Method/</a:t>
            </a:r>
            <a:r>
              <a:rPr sz="2400" spc="-1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Approach</a:t>
            </a:r>
            <a:endParaRPr lang="en-IN" sz="2400" spc="-10" dirty="0">
              <a:latin typeface="Times New Roman" panose="02020603050405020304" pitchFamily="18" charset="0"/>
              <a:cs typeface="Times New Roman" panose="02020603050405020304" pitchFamily="18" charset="0"/>
            </a:endParaRPr>
          </a:p>
          <a:p>
            <a:pPr marL="330835" indent="-318135">
              <a:lnSpc>
                <a:spcPct val="100000"/>
              </a:lnSpc>
              <a:spcBef>
                <a:spcPts val="255"/>
              </a:spcBef>
              <a:buChar char="•"/>
              <a:tabLst>
                <a:tab pos="330835" algn="l"/>
              </a:tabLst>
            </a:pPr>
            <a:r>
              <a:rPr lang="en-IN" sz="2400" spc="-10" dirty="0">
                <a:latin typeface="Times New Roman" panose="02020603050405020304" pitchFamily="18" charset="0"/>
                <a:cs typeface="Times New Roman" panose="02020603050405020304" pitchFamily="18" charset="0"/>
              </a:rPr>
              <a:t>System architecture</a:t>
            </a:r>
          </a:p>
          <a:p>
            <a:pPr marL="330835" indent="-318135">
              <a:lnSpc>
                <a:spcPct val="100000"/>
              </a:lnSpc>
              <a:spcBef>
                <a:spcPts val="255"/>
              </a:spcBef>
              <a:buChar char="•"/>
              <a:tabLst>
                <a:tab pos="330835" algn="l"/>
              </a:tabLst>
            </a:pPr>
            <a:r>
              <a:rPr lang="en-IN" sz="2400" spc="-10" dirty="0">
                <a:latin typeface="Times New Roman" panose="02020603050405020304" pitchFamily="18" charset="0"/>
                <a:cs typeface="Times New Roman" panose="02020603050405020304" pitchFamily="18" charset="0"/>
              </a:rPr>
              <a:t>Result</a:t>
            </a:r>
          </a:p>
          <a:p>
            <a:pPr marL="330835" indent="-318135">
              <a:lnSpc>
                <a:spcPct val="100000"/>
              </a:lnSpc>
              <a:spcBef>
                <a:spcPts val="255"/>
              </a:spcBef>
              <a:buChar char="•"/>
              <a:tabLst>
                <a:tab pos="330835" algn="l"/>
              </a:tabLst>
            </a:pPr>
            <a:r>
              <a:rPr lang="en-IN" sz="2400" spc="-10" dirty="0">
                <a:latin typeface="Times New Roman" panose="02020603050405020304" pitchFamily="18" charset="0"/>
                <a:cs typeface="Times New Roman" panose="02020603050405020304" pitchFamily="18" charset="0"/>
              </a:rPr>
              <a:t>Future Work/Scope</a:t>
            </a:r>
          </a:p>
          <a:p>
            <a:pPr marL="330835" indent="-318135">
              <a:lnSpc>
                <a:spcPct val="100000"/>
              </a:lnSpc>
              <a:spcBef>
                <a:spcPts val="255"/>
              </a:spcBef>
              <a:buChar char="•"/>
              <a:tabLst>
                <a:tab pos="330835" algn="l"/>
              </a:tabLst>
            </a:pPr>
            <a:r>
              <a:rPr lang="en-IN" sz="2400" spc="-10" dirty="0">
                <a:latin typeface="Times New Roman" panose="02020603050405020304" pitchFamily="18" charset="0"/>
                <a:cs typeface="Times New Roman" panose="02020603050405020304" pitchFamily="18" charset="0"/>
              </a:rPr>
              <a:t>Conclusion</a:t>
            </a:r>
            <a:endParaRPr sz="2400" dirty="0">
              <a:latin typeface="Times New Roman" panose="02020603050405020304" pitchFamily="18" charset="0"/>
              <a:cs typeface="Times New Roman" panose="02020603050405020304" pitchFamily="18" charset="0"/>
            </a:endParaRPr>
          </a:p>
          <a:p>
            <a:pPr marL="330835" indent="-318135">
              <a:lnSpc>
                <a:spcPct val="100000"/>
              </a:lnSpc>
              <a:spcBef>
                <a:spcPts val="255"/>
              </a:spcBef>
              <a:buChar char="•"/>
              <a:tabLst>
                <a:tab pos="330835" algn="l"/>
              </a:tabLst>
            </a:pPr>
            <a:r>
              <a:rPr lang="en-IN" sz="2400" spc="-10" dirty="0" err="1">
                <a:latin typeface="Times New Roman" panose="02020603050405020304" pitchFamily="18" charset="0"/>
                <a:cs typeface="Times New Roman" panose="02020603050405020304" pitchFamily="18" charset="0"/>
              </a:rPr>
              <a:t>Refrences</a:t>
            </a:r>
            <a:endParaRPr sz="24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682625" y="6428677"/>
            <a:ext cx="73596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888888"/>
                </a:solidFill>
                <a:latin typeface="Calibri" panose="020F0502020204030204"/>
                <a:cs typeface="Calibri" panose="020F0502020204030204"/>
              </a:rPr>
              <a:t>10-09-2025</a:t>
            </a:r>
            <a:endParaRPr sz="1200">
              <a:latin typeface="Calibri" panose="020F0502020204030204"/>
              <a:cs typeface="Calibri" panose="020F0502020204030204"/>
            </a:endParaRPr>
          </a:p>
        </p:txBody>
      </p:sp>
      <p:sp>
        <p:nvSpPr>
          <p:cNvPr id="5" name="object 5"/>
          <p:cNvSpPr txBox="1"/>
          <p:nvPr/>
        </p:nvSpPr>
        <p:spPr>
          <a:xfrm>
            <a:off x="11406733" y="6428677"/>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panose="020F0502020204030204"/>
                <a:cs typeface="Calibri" panose="020F0502020204030204"/>
              </a:rPr>
              <a:t>2</a:t>
            </a:r>
            <a:endParaRPr sz="1200">
              <a:latin typeface="Calibri" panose="020F0502020204030204"/>
              <a:cs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275840">
              <a:lnSpc>
                <a:spcPct val="100000"/>
              </a:lnSpc>
              <a:spcBef>
                <a:spcPts val="100"/>
              </a:spcBef>
            </a:pPr>
            <a:r>
              <a:rPr spc="-10" dirty="0">
                <a:latin typeface="Times New Roman" panose="02020603050405020304" pitchFamily="18" charset="0"/>
                <a:cs typeface="Times New Roman" panose="02020603050405020304" pitchFamily="18" charset="0"/>
              </a:rPr>
              <a:t>Introduction</a:t>
            </a:r>
          </a:p>
        </p:txBody>
      </p:sp>
      <p:sp>
        <p:nvSpPr>
          <p:cNvPr id="4" name="object 4"/>
          <p:cNvSpPr txBox="1">
            <a:spLocks noGrp="1"/>
          </p:cNvSpPr>
          <p:nvPr>
            <p:ph type="ftr" sz="quarter" idx="5"/>
          </p:nvPr>
        </p:nvSpPr>
        <p:spPr>
          <a:xfrm>
            <a:off x="3458211" y="6466765"/>
            <a:ext cx="4923790" cy="234038"/>
          </a:xfrm>
          <a:prstGeom prst="rect">
            <a:avLst/>
          </a:prstGeom>
        </p:spPr>
        <p:txBody>
          <a:bodyPr vert="horz" wrap="square" lIns="0" tIns="0" rIns="0" bIns="0" rtlCol="0">
            <a:spAutoFit/>
          </a:bodyPr>
          <a:lstStyle/>
          <a:p>
            <a:pPr algn="ctr">
              <a:lnSpc>
                <a:spcPts val="1810"/>
              </a:lnSpc>
            </a:pPr>
            <a:r>
              <a:rPr dirty="0">
                <a:latin typeface="Calibri" panose="020F0502020204030204"/>
                <a:cs typeface="Calibri" panose="020F0502020204030204"/>
              </a:rPr>
              <a:t>DEPARTMENT</a:t>
            </a:r>
            <a:r>
              <a:rPr spc="-4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COMPUTER</a:t>
            </a:r>
            <a:r>
              <a:rPr spc="-30" dirty="0">
                <a:latin typeface="Calibri" panose="020F0502020204030204"/>
                <a:cs typeface="Calibri" panose="020F0502020204030204"/>
              </a:rPr>
              <a:t> </a:t>
            </a:r>
            <a:r>
              <a:rPr spc="-10" dirty="0">
                <a:latin typeface="Calibri" panose="020F0502020204030204"/>
                <a:cs typeface="Calibri" panose="020F0502020204030204"/>
              </a:rPr>
              <a:t>ENGINEERING</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nSpc>
                <a:spcPts val="1240"/>
              </a:lnSpc>
            </a:pPr>
            <a:fld id="{81D60167-4931-47E6-BA6A-407CBD079E47}" type="slidenum">
              <a:rPr spc="-50" dirty="0"/>
              <a:t>3</a:t>
            </a:fld>
            <a:endParaRPr spc="-50" dirty="0"/>
          </a:p>
        </p:txBody>
      </p:sp>
      <p:sp>
        <p:nvSpPr>
          <p:cNvPr id="8" name="TextBox 7"/>
          <p:cNvSpPr txBox="1"/>
          <p:nvPr/>
        </p:nvSpPr>
        <p:spPr>
          <a:xfrm>
            <a:off x="351155" y="2744470"/>
            <a:ext cx="10979150" cy="2306955"/>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Problem: Knowledge is scattered across PDFs, research papers, videos, documents, notes, images, spreadsheets, and web content, making it difficult to find, organize, and understand information. Solution: An AI-powered Knowledge Workspace that stores all your knowledge, understands uploaded content, provides AI-powered search, generates summaries, quizzes, and flashcards, and supports interactive conversations with documents</a:t>
            </a:r>
          </a:p>
        </p:txBody>
      </p:sp>
      <p:sp>
        <p:nvSpPr>
          <p:cNvPr id="9" name="TextBox 8"/>
          <p:cNvSpPr txBox="1"/>
          <p:nvPr/>
        </p:nvSpPr>
        <p:spPr>
          <a:xfrm>
            <a:off x="228600" y="1551351"/>
            <a:ext cx="8153401" cy="954107"/>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AI SMART KNOWLEDGE MANAGEMENT PLATFORM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473710" algn="just">
              <a:lnSpc>
                <a:spcPct val="100000"/>
              </a:lnSpc>
              <a:spcBef>
                <a:spcPts val="100"/>
              </a:spcBef>
            </a:pPr>
            <a:r>
              <a:rPr dirty="0">
                <a:latin typeface="Times New Roman" panose="02020603050405020304" pitchFamily="18" charset="0"/>
                <a:cs typeface="Times New Roman" panose="02020603050405020304" pitchFamily="18" charset="0"/>
              </a:rPr>
              <a:t>Background</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Motivation</a:t>
            </a:r>
          </a:p>
        </p:txBody>
      </p:sp>
      <p:sp>
        <p:nvSpPr>
          <p:cNvPr id="4" name="object 4"/>
          <p:cNvSpPr txBox="1">
            <a:spLocks noGrp="1"/>
          </p:cNvSpPr>
          <p:nvPr>
            <p:ph type="ftr" sz="quarter" idx="5"/>
          </p:nvPr>
        </p:nvSpPr>
        <p:spPr>
          <a:xfrm>
            <a:off x="4037998" y="6278489"/>
            <a:ext cx="4923790" cy="234038"/>
          </a:xfrm>
          <a:prstGeom prst="rect">
            <a:avLst/>
          </a:prstGeom>
        </p:spPr>
        <p:txBody>
          <a:bodyPr vert="horz" wrap="square" lIns="0" tIns="0" rIns="0" bIns="0" rtlCol="0">
            <a:spAutoFit/>
          </a:bodyPr>
          <a:lstStyle/>
          <a:p>
            <a:pPr algn="just">
              <a:lnSpc>
                <a:spcPts val="1810"/>
              </a:lnSpc>
            </a:pPr>
            <a:r>
              <a:rPr dirty="0">
                <a:latin typeface="Calibri" panose="020F0502020204030204"/>
                <a:cs typeface="Calibri" panose="020F0502020204030204"/>
              </a:rPr>
              <a:t>DEPARTMENT</a:t>
            </a:r>
            <a:r>
              <a:rPr spc="-45" dirty="0">
                <a:latin typeface="Calibri" panose="020F0502020204030204"/>
                <a:cs typeface="Calibri" panose="020F0502020204030204"/>
              </a:rPr>
              <a:t> </a:t>
            </a:r>
            <a:r>
              <a:rPr dirty="0">
                <a:latin typeface="Calibri" panose="020F0502020204030204"/>
                <a:cs typeface="Calibri" panose="020F0502020204030204"/>
              </a:rPr>
              <a:t>OF</a:t>
            </a:r>
            <a:r>
              <a:rPr spc="-35" dirty="0">
                <a:latin typeface="Calibri" panose="020F0502020204030204"/>
                <a:cs typeface="Calibri" panose="020F0502020204030204"/>
              </a:rPr>
              <a:t> </a:t>
            </a:r>
            <a:r>
              <a:rPr dirty="0">
                <a:latin typeface="Calibri" panose="020F0502020204030204"/>
                <a:cs typeface="Calibri" panose="020F0502020204030204"/>
              </a:rPr>
              <a:t>COMPUTER</a:t>
            </a:r>
            <a:r>
              <a:rPr spc="-30" dirty="0">
                <a:latin typeface="Calibri" panose="020F0502020204030204"/>
                <a:cs typeface="Calibri" panose="020F0502020204030204"/>
              </a:rPr>
              <a:t> </a:t>
            </a:r>
            <a:r>
              <a:rPr spc="-10" dirty="0">
                <a:latin typeface="Calibri" panose="020F0502020204030204"/>
                <a:cs typeface="Calibri" panose="020F0502020204030204"/>
              </a:rPr>
              <a:t>ENGINEERING</a:t>
            </a:r>
            <a:endParaRPr lang="en-US" spc="-10" dirty="0">
              <a:latin typeface="Calibri" panose="020F0502020204030204"/>
              <a:cs typeface="Calibri" panose="020F0502020204030204"/>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gn="just">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gn="just">
              <a:lnSpc>
                <a:spcPts val="1240"/>
              </a:lnSpc>
            </a:pPr>
            <a:fld id="{81D60167-4931-47E6-BA6A-407CBD079E47}" type="slidenum">
              <a:rPr spc="-50" dirty="0"/>
              <a:t>4</a:t>
            </a:fld>
            <a:endParaRPr spc="-50" dirty="0"/>
          </a:p>
        </p:txBody>
      </p:sp>
      <p:sp>
        <p:nvSpPr>
          <p:cNvPr id="3" name="object 3"/>
          <p:cNvSpPr txBox="1"/>
          <p:nvPr/>
        </p:nvSpPr>
        <p:spPr>
          <a:xfrm>
            <a:off x="560171" y="1301305"/>
            <a:ext cx="9602672" cy="1133475"/>
          </a:xfrm>
          <a:prstGeom prst="rect">
            <a:avLst/>
          </a:prstGeom>
        </p:spPr>
        <p:txBody>
          <a:bodyPr vert="horz" wrap="square" lIns="0" tIns="12700" rIns="0" bIns="0" rtlCol="0">
            <a:spAutoFit/>
          </a:bodyPr>
          <a:lstStyle/>
          <a:p>
            <a:pPr marL="12700" algn="just">
              <a:lnSpc>
                <a:spcPct val="100000"/>
              </a:lnSpc>
              <a:spcBef>
                <a:spcPts val="100"/>
              </a:spcBef>
              <a:tabLst>
                <a:tab pos="330835" algn="l"/>
              </a:tabLst>
            </a:pPr>
            <a:r>
              <a:rPr lang="en-IN" altLang="en-US" sz="36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Background</a:t>
            </a:r>
            <a:endParaRPr lang="en-US" sz="3600" b="1" dirty="0">
              <a:latin typeface="Times New Roman" panose="02020603050405020304" pitchFamily="18" charset="0"/>
              <a:cs typeface="Times New Roman" panose="02020603050405020304" pitchFamily="18" charset="0"/>
            </a:endParaRPr>
          </a:p>
          <a:p>
            <a:pPr marL="12700" algn="just">
              <a:lnSpc>
                <a:spcPct val="100000"/>
              </a:lnSpc>
              <a:spcBef>
                <a:spcPts val="100"/>
              </a:spcBef>
              <a:tabLst>
                <a:tab pos="330835" algn="l"/>
              </a:tabLst>
            </a:pPr>
            <a:endParaRPr sz="36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60070" y="1763395"/>
            <a:ext cx="10879455" cy="3569335"/>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Current challenges: large unorganized information volume , repetitive document searching , and time – consuming manual note  creation . No unified AI workspace exists , and existing tools offer limited document understanding.</a:t>
            </a:r>
          </a:p>
          <a:p>
            <a:pPr algn="just"/>
            <a:endParaRPr lang="en-IN" sz="3600" b="1"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Motivation </a:t>
            </a:r>
            <a:endParaRPr lang="en-IN" sz="36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Build a Personal AI Research Assistant , AI Knowledge Manager , Learning Companion , and Intelligent Search Engine — inspired by Google AI Studio , Note book LM , Chat GPT, Perplexity AI , and Microsoft Copilot.</a:t>
            </a:r>
          </a:p>
          <a:p>
            <a:pPr algn="just"/>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616585" algn="just">
              <a:lnSpc>
                <a:spcPct val="100000"/>
              </a:lnSpc>
              <a:spcBef>
                <a:spcPts val="100"/>
              </a:spcBef>
            </a:pPr>
            <a:r>
              <a:rPr dirty="0">
                <a:latin typeface="Times New Roman" panose="02020603050405020304" pitchFamily="18" charset="0"/>
                <a:cs typeface="Times New Roman" panose="02020603050405020304" pitchFamily="18" charset="0"/>
              </a:rPr>
              <a:t>Relevance</a:t>
            </a:r>
            <a:r>
              <a:rPr spc="-1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12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Importance</a:t>
            </a:r>
          </a:p>
        </p:txBody>
      </p:sp>
      <p:sp>
        <p:nvSpPr>
          <p:cNvPr id="4" name="object 4"/>
          <p:cNvSpPr txBox="1">
            <a:spLocks noGrp="1"/>
          </p:cNvSpPr>
          <p:nvPr>
            <p:ph type="ftr" sz="quarter" idx="5"/>
          </p:nvPr>
        </p:nvSpPr>
        <p:spPr>
          <a:xfrm>
            <a:off x="3733800" y="6466765"/>
            <a:ext cx="4923790" cy="243656"/>
          </a:xfrm>
          <a:prstGeom prst="rect">
            <a:avLst/>
          </a:prstGeom>
        </p:spPr>
        <p:txBody>
          <a:bodyPr vert="horz" wrap="square" lIns="0" tIns="0" rIns="0" bIns="0" rtlCol="0">
            <a:spAutoFit/>
          </a:bodyPr>
          <a:lstStyle/>
          <a:p>
            <a:pPr algn="just">
              <a:lnSpc>
                <a:spcPts val="1860"/>
              </a:lnSpc>
            </a:pPr>
            <a:r>
              <a:rPr dirty="0"/>
              <a:t>DEPARTMENT</a:t>
            </a:r>
            <a:r>
              <a:rPr spc="-45" dirty="0"/>
              <a:t> </a:t>
            </a:r>
            <a:r>
              <a:rPr dirty="0"/>
              <a:t>OF</a:t>
            </a:r>
            <a:r>
              <a:rPr spc="-35" dirty="0"/>
              <a:t> </a:t>
            </a:r>
            <a:r>
              <a:rPr dirty="0"/>
              <a:t>COMPUTER</a:t>
            </a:r>
            <a:r>
              <a:rPr spc="-30" dirty="0"/>
              <a:t> </a:t>
            </a:r>
            <a:r>
              <a:rPr spc="-10" dirty="0"/>
              <a:t>ENGINEERING</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gn="just">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gn="just">
              <a:lnSpc>
                <a:spcPts val="1240"/>
              </a:lnSpc>
            </a:pPr>
            <a:fld id="{81D60167-4931-47E6-BA6A-407CBD079E47}" type="slidenum">
              <a:rPr spc="-50" dirty="0"/>
              <a:t>5</a:t>
            </a:fld>
            <a:endParaRPr spc="-50" dirty="0"/>
          </a:p>
        </p:txBody>
      </p:sp>
      <p:sp>
        <p:nvSpPr>
          <p:cNvPr id="8" name="TextBox 7"/>
          <p:cNvSpPr txBox="1"/>
          <p:nvPr/>
        </p:nvSpPr>
        <p:spPr>
          <a:xfrm>
            <a:off x="609600" y="3810000"/>
            <a:ext cx="10988040" cy="2368550"/>
          </a:xfrm>
          <a:prstGeom prst="rect">
            <a:avLst/>
          </a:prstGeom>
          <a:noFill/>
        </p:spPr>
        <p:txBody>
          <a:bodyPr wrap="square">
            <a:spAutoFit/>
          </a:bodyPr>
          <a:lstStyle/>
          <a:p>
            <a:pPr algn="just"/>
            <a:r>
              <a:rPr lang="en-IN" sz="2800" b="1" spc="-10" dirty="0">
                <a:latin typeface="Times New Roman" panose="02020603050405020304" pitchFamily="18" charset="0"/>
                <a:cs typeface="Times New Roman" panose="02020603050405020304" pitchFamily="18" charset="0"/>
              </a:rPr>
              <a:t>Importance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AI-powered knowledge management is reshaping how individuals and organizations interact with information. The growing demand for intelligent productivity tools reflects a need for systems that not only store content but actively understand and assist users. This platform addresses that demand by unifying search, learning, and document intelligence in a single workspace.</a:t>
            </a:r>
          </a:p>
        </p:txBody>
      </p:sp>
      <p:sp>
        <p:nvSpPr>
          <p:cNvPr id="3" name="Text Box 2"/>
          <p:cNvSpPr txBox="1"/>
          <p:nvPr/>
        </p:nvSpPr>
        <p:spPr>
          <a:xfrm>
            <a:off x="670560" y="1424940"/>
            <a:ext cx="10845800" cy="2368550"/>
          </a:xfrm>
          <a:prstGeom prst="rect">
            <a:avLst/>
          </a:prstGeom>
          <a:noFill/>
        </p:spPr>
        <p:txBody>
          <a:bodyPr wrap="square" rtlCol="0">
            <a:spAutoFit/>
          </a:bodyPr>
          <a:lstStyle/>
          <a:p>
            <a:r>
              <a:rPr lang="en-US" altLang="en-US" sz="2800" b="1" dirty="0">
                <a:latin typeface="Times New Roman" panose="02020603050405020304" pitchFamily="18" charset="0"/>
                <a:cs typeface="Times New Roman" panose="02020603050405020304" pitchFamily="18" charset="0"/>
              </a:rPr>
              <a:t>Relevance</a:t>
            </a:r>
            <a:endParaRPr lang="en-US" altLang="en-US" dirty="0"/>
          </a:p>
          <a:p>
            <a:r>
              <a:rPr lang="en-US" altLang="en-US" sz="2400" dirty="0">
                <a:latin typeface="Times New Roman" panose="02020603050405020304" pitchFamily="18" charset="0"/>
                <a:cs typeface="Times New Roman" panose="02020603050405020304" pitchFamily="18" charset="0"/>
              </a:rPr>
              <a:t>Provides a centralized AI-powered platform to manage and understand diverse digital information.</a:t>
            </a:r>
            <a:r>
              <a:rPr lang="en-IN"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Helps users search, summarize, organize, and interact with their documents and knowledge efficiently.</a:t>
            </a:r>
            <a:r>
              <a:rPr lang="en-IN"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Combines AI</a:t>
            </a:r>
            <a:r>
              <a:rPr lang="en-IN" altLang="en-US" sz="2400" dirty="0">
                <a:latin typeface="Times New Roman" panose="02020603050405020304" pitchFamily="18" charset="0"/>
                <a:cs typeface="Times New Roman" panose="02020603050405020304" pitchFamily="18" charset="0"/>
              </a:rPr>
              <a:t> to </a:t>
            </a:r>
            <a:r>
              <a:rPr lang="en-US" altLang="en-US" sz="2400" dirty="0">
                <a:latin typeface="Times New Roman" panose="02020603050405020304" pitchFamily="18" charset="0"/>
                <a:cs typeface="Times New Roman" panose="02020603050405020304" pitchFamily="18" charset="0"/>
              </a:rPr>
              <a:t>provide relevant and source-based </a:t>
            </a:r>
            <a:r>
              <a:rPr lang="en-US" altLang="en-US" sz="2400" dirty="0" err="1">
                <a:latin typeface="Times New Roman" panose="02020603050405020304" pitchFamily="18" charset="0"/>
                <a:cs typeface="Times New Roman" panose="02020603050405020304" pitchFamily="18" charset="0"/>
              </a:rPr>
              <a:t>answers.Useful</a:t>
            </a:r>
            <a:r>
              <a:rPr lang="en-US" altLang="en-US" sz="2400" dirty="0">
                <a:latin typeface="Times New Roman" panose="02020603050405020304" pitchFamily="18" charset="0"/>
                <a:cs typeface="Times New Roman" panose="02020603050405020304" pitchFamily="18" charset="0"/>
              </a:rPr>
              <a:t> for students, researchers, professionals, and organizations for improving productivity and learning.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636395" algn="just">
              <a:lnSpc>
                <a:spcPct val="100000"/>
              </a:lnSpc>
              <a:spcBef>
                <a:spcPts val="100"/>
              </a:spcBef>
            </a:pPr>
            <a:r>
              <a:rPr dirty="0">
                <a:latin typeface="Times New Roman" panose="02020603050405020304" pitchFamily="18" charset="0"/>
                <a:cs typeface="Times New Roman" panose="02020603050405020304" pitchFamily="18" charset="0"/>
              </a:rPr>
              <a:t>Literature</a:t>
            </a:r>
            <a:r>
              <a:rPr spc="-24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Review</a:t>
            </a:r>
          </a:p>
        </p:txBody>
      </p:sp>
      <p:sp>
        <p:nvSpPr>
          <p:cNvPr id="4" name="object 4"/>
          <p:cNvSpPr txBox="1">
            <a:spLocks noGrp="1"/>
          </p:cNvSpPr>
          <p:nvPr>
            <p:ph type="ftr" sz="quarter" idx="5"/>
          </p:nvPr>
        </p:nvSpPr>
        <p:spPr>
          <a:xfrm>
            <a:off x="3912195" y="6522737"/>
            <a:ext cx="4923790" cy="243656"/>
          </a:xfrm>
          <a:prstGeom prst="rect">
            <a:avLst/>
          </a:prstGeom>
        </p:spPr>
        <p:txBody>
          <a:bodyPr vert="horz" wrap="square" lIns="0" tIns="0" rIns="0" bIns="0" rtlCol="0">
            <a:spAutoFit/>
          </a:bodyPr>
          <a:lstStyle/>
          <a:p>
            <a:pPr algn="just">
              <a:lnSpc>
                <a:spcPts val="1860"/>
              </a:lnSpc>
            </a:pPr>
            <a:r>
              <a:rPr dirty="0"/>
              <a:t>DEPARTMENT</a:t>
            </a:r>
            <a:r>
              <a:rPr spc="-45" dirty="0"/>
              <a:t> </a:t>
            </a:r>
            <a:r>
              <a:rPr dirty="0"/>
              <a:t>OF</a:t>
            </a:r>
            <a:r>
              <a:rPr spc="-35" dirty="0"/>
              <a:t> </a:t>
            </a:r>
            <a:r>
              <a:rPr dirty="0"/>
              <a:t>COMPUTER</a:t>
            </a:r>
            <a:r>
              <a:rPr spc="-30" dirty="0"/>
              <a:t> </a:t>
            </a:r>
            <a:r>
              <a:rPr spc="-10" dirty="0"/>
              <a:t>ENGINEERING</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gn="just">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gn="just">
              <a:lnSpc>
                <a:spcPts val="1240"/>
              </a:lnSpc>
            </a:pPr>
            <a:fld id="{81D60167-4931-47E6-BA6A-407CBD079E47}" type="slidenum">
              <a:rPr spc="-50" dirty="0"/>
              <a:t>6</a:t>
            </a:fld>
            <a:endParaRPr spc="-50" dirty="0"/>
          </a:p>
        </p:txBody>
      </p:sp>
      <p:sp>
        <p:nvSpPr>
          <p:cNvPr id="3" name="object 3"/>
          <p:cNvSpPr txBox="1">
            <a:spLocks noGrp="1"/>
          </p:cNvSpPr>
          <p:nvPr>
            <p:ph type="body" idx="1"/>
          </p:nvPr>
        </p:nvSpPr>
        <p:spPr>
          <a:xfrm>
            <a:off x="457200" y="1295400"/>
            <a:ext cx="11165840" cy="4878070"/>
          </a:xfrm>
          <a:prstGeom prst="rect">
            <a:avLst/>
          </a:prstGeom>
        </p:spPr>
        <p:txBody>
          <a:bodyPr vert="horz" wrap="square" lIns="0" tIns="12700" rIns="0" bIns="0" rtlCol="0">
            <a:spAutoFit/>
          </a:bodyPr>
          <a:lstStyle/>
          <a:p>
            <a:pPr marL="354965" marR="5080" indent="-342900" algn="just">
              <a:lnSpc>
                <a:spcPct val="100000"/>
              </a:lnSpc>
              <a:spcBef>
                <a:spcPts val="100"/>
              </a:spcBef>
              <a:buFont typeface="Arial" panose="020B0604020202020204" pitchFamily="34" charset="0"/>
              <a:buChar char="•"/>
              <a:tabLst>
                <a:tab pos="332105" algn="l"/>
              </a:tabLst>
            </a:pPr>
            <a:r>
              <a:rPr lang="en-US" altLang="en-US" sz="2400" spc="-10" dirty="0">
                <a:latin typeface="Times New Roman" panose="02020603050405020304" pitchFamily="18" charset="0"/>
                <a:cs typeface="Times New Roman" panose="02020603050405020304" pitchFamily="18" charset="0"/>
              </a:rPr>
              <a:t>Google AI Studio provides a platform to interact with AI models, test prompts, and work with different types of inputs.</a:t>
            </a:r>
          </a:p>
          <a:p>
            <a:pPr marL="354965" marR="5080" indent="-342900" algn="just">
              <a:lnSpc>
                <a:spcPct val="100000"/>
              </a:lnSpc>
              <a:spcBef>
                <a:spcPts val="100"/>
              </a:spcBef>
              <a:buFont typeface="Arial" panose="020B0604020202020204" pitchFamily="34" charset="0"/>
              <a:buChar char="•"/>
              <a:tabLst>
                <a:tab pos="332105" algn="l"/>
              </a:tabLst>
            </a:pPr>
            <a:r>
              <a:rPr lang="en-US" altLang="en-US" sz="2400" spc="-10" dirty="0">
                <a:latin typeface="Times New Roman" panose="02020603050405020304" pitchFamily="18" charset="0"/>
                <a:cs typeface="Times New Roman" panose="02020603050405020304" pitchFamily="18" charset="0"/>
              </a:rPr>
              <a:t>NotebookLM allows users to upload documents and ask questions, generate summaries, quizzes, and study materials from their sources.</a:t>
            </a:r>
          </a:p>
          <a:p>
            <a:pPr marL="354965" marR="5080" indent="-342900" algn="just">
              <a:lnSpc>
                <a:spcPct val="100000"/>
              </a:lnSpc>
              <a:spcBef>
                <a:spcPts val="100"/>
              </a:spcBef>
              <a:buFont typeface="Arial" panose="020B0604020202020204" pitchFamily="34" charset="0"/>
              <a:buChar char="•"/>
              <a:tabLst>
                <a:tab pos="332105" algn="l"/>
              </a:tabLst>
            </a:pPr>
            <a:r>
              <a:rPr lang="en-US" altLang="en-US" sz="2400" spc="-10" dirty="0">
                <a:latin typeface="Times New Roman" panose="02020603050405020304" pitchFamily="18" charset="0"/>
                <a:cs typeface="Times New Roman" panose="02020603050405020304" pitchFamily="18" charset="0"/>
              </a:rPr>
              <a:t>Google Gemini provides text and image understanding, question answering, summarization, and content generation.</a:t>
            </a:r>
          </a:p>
          <a:p>
            <a:pPr marL="354965" marR="5080" indent="-342900" algn="just">
              <a:lnSpc>
                <a:spcPct val="100000"/>
              </a:lnSpc>
              <a:spcBef>
                <a:spcPts val="100"/>
              </a:spcBef>
              <a:buFont typeface="Arial" panose="020B0604020202020204" pitchFamily="34" charset="0"/>
              <a:buChar char="•"/>
              <a:tabLst>
                <a:tab pos="332105" algn="l"/>
              </a:tabLst>
            </a:pPr>
            <a:r>
              <a:rPr lang="en-US" altLang="en-US" sz="2400" spc="-10" dirty="0">
                <a:latin typeface="Times New Roman" panose="02020603050405020304" pitchFamily="18" charset="0"/>
                <a:cs typeface="Times New Roman" panose="02020603050405020304" pitchFamily="18" charset="0"/>
              </a:rPr>
              <a:t>ChatGPT provides conversational interaction and helps users understand and generate content.</a:t>
            </a:r>
          </a:p>
          <a:p>
            <a:pPr marL="354965" marR="5080" indent="-342900" algn="just">
              <a:lnSpc>
                <a:spcPct val="100000"/>
              </a:lnSpc>
              <a:spcBef>
                <a:spcPts val="100"/>
              </a:spcBef>
              <a:buFont typeface="Arial" panose="020B0604020202020204" pitchFamily="34" charset="0"/>
              <a:buChar char="•"/>
              <a:tabLst>
                <a:tab pos="332105" algn="l"/>
              </a:tabLst>
            </a:pPr>
            <a:r>
              <a:rPr lang="en-US" altLang="en-US" sz="2400" spc="-10" dirty="0">
                <a:latin typeface="Times New Roman" panose="02020603050405020304" pitchFamily="18" charset="0"/>
                <a:cs typeface="Times New Roman" panose="02020603050405020304" pitchFamily="18" charset="0"/>
              </a:rPr>
              <a:t>Traditional document systems mainly focus on storing and organizing files, with limited interactive learning features.</a:t>
            </a:r>
            <a:endParaRPr lang="en-US" altLang="en-US" sz="1800" b="1" spc="-10" dirty="0">
              <a:latin typeface="Times New Roman" panose="02020603050405020304" pitchFamily="18" charset="0"/>
              <a:cs typeface="Times New Roman" panose="02020603050405020304" pitchFamily="18" charset="0"/>
            </a:endParaRPr>
          </a:p>
          <a:p>
            <a:pPr marL="354965" marR="5080" indent="-342900" algn="just">
              <a:lnSpc>
                <a:spcPct val="100000"/>
              </a:lnSpc>
              <a:spcBef>
                <a:spcPts val="100"/>
              </a:spcBef>
              <a:buFont typeface="Arial" panose="020B0604020202020204" pitchFamily="34" charset="0"/>
              <a:buChar char="•"/>
              <a:tabLst>
                <a:tab pos="332105" algn="l"/>
              </a:tabLst>
            </a:pPr>
            <a:r>
              <a:rPr lang="en-IN" sz="2400" dirty="0">
                <a:latin typeface="Times New Roman" panose="02020603050405020304" pitchFamily="18" charset="0"/>
                <a:cs typeface="Times New Roman" panose="02020603050405020304" pitchFamily="18" charset="0"/>
              </a:rPr>
              <a:t>However, the set tools combine knowledge management, document intelligence, AI search , long term memory, and multi format understanding into a single unified work space.</a:t>
            </a:r>
            <a:endParaRPr sz="3600" b="1" spc="-1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DC582-387F-AD3A-705C-4BA24EC83BE7}"/>
              </a:ext>
            </a:extLst>
          </p:cNvPr>
          <p:cNvSpPr>
            <a:spLocks noGrp="1"/>
          </p:cNvSpPr>
          <p:nvPr>
            <p:ph type="title"/>
          </p:nvPr>
        </p:nvSpPr>
        <p:spPr>
          <a:xfrm>
            <a:off x="2133600" y="76200"/>
            <a:ext cx="7579864" cy="695960"/>
          </a:xfrm>
        </p:spPr>
        <p:txBody>
          <a:bodyPr/>
          <a:lstStyle/>
          <a:p>
            <a:pPr algn="ctr"/>
            <a:r>
              <a:rPr lang="en-IN" dirty="0">
                <a:latin typeface="Times New Roman" panose="02020603050405020304" pitchFamily="18" charset="0"/>
                <a:cs typeface="Times New Roman" panose="02020603050405020304" pitchFamily="18" charset="0"/>
              </a:rPr>
              <a:t>       Literature Review</a:t>
            </a:r>
          </a:p>
        </p:txBody>
      </p:sp>
      <p:graphicFrame>
        <p:nvGraphicFramePr>
          <p:cNvPr id="3" name="Table 2">
            <a:extLst>
              <a:ext uri="{FF2B5EF4-FFF2-40B4-BE49-F238E27FC236}">
                <a16:creationId xmlns:a16="http://schemas.microsoft.com/office/drawing/2014/main" id="{189A346C-5020-D03B-4658-D0C804F20B12}"/>
              </a:ext>
            </a:extLst>
          </p:cNvPr>
          <p:cNvGraphicFramePr>
            <a:graphicFrameLocks noGrp="1"/>
          </p:cNvGraphicFramePr>
          <p:nvPr>
            <p:extLst>
              <p:ext uri="{D42A27DB-BD31-4B8C-83A1-F6EECF244321}">
                <p14:modId xmlns:p14="http://schemas.microsoft.com/office/powerpoint/2010/main" val="3520717618"/>
              </p:ext>
            </p:extLst>
          </p:nvPr>
        </p:nvGraphicFramePr>
        <p:xfrm>
          <a:off x="0" y="657059"/>
          <a:ext cx="12192000" cy="6200941"/>
        </p:xfrm>
        <a:graphic>
          <a:graphicData uri="http://schemas.openxmlformats.org/drawingml/2006/table">
            <a:tbl>
              <a:tblPr firstRow="1" bandRow="1">
                <a:tableStyleId>{5C22544A-7EE6-4342-B048-85BDC9FD1C3A}</a:tableStyleId>
              </a:tblPr>
              <a:tblGrid>
                <a:gridCol w="802747">
                  <a:extLst>
                    <a:ext uri="{9D8B030D-6E8A-4147-A177-3AD203B41FA5}">
                      <a16:colId xmlns:a16="http://schemas.microsoft.com/office/drawing/2014/main" val="3010984247"/>
                    </a:ext>
                  </a:extLst>
                </a:gridCol>
                <a:gridCol w="764905">
                  <a:extLst>
                    <a:ext uri="{9D8B030D-6E8A-4147-A177-3AD203B41FA5}">
                      <a16:colId xmlns:a16="http://schemas.microsoft.com/office/drawing/2014/main" val="1275387494"/>
                    </a:ext>
                  </a:extLst>
                </a:gridCol>
                <a:gridCol w="1289849">
                  <a:extLst>
                    <a:ext uri="{9D8B030D-6E8A-4147-A177-3AD203B41FA5}">
                      <a16:colId xmlns:a16="http://schemas.microsoft.com/office/drawing/2014/main" val="4123685829"/>
                    </a:ext>
                  </a:extLst>
                </a:gridCol>
                <a:gridCol w="1911911">
                  <a:extLst>
                    <a:ext uri="{9D8B030D-6E8A-4147-A177-3AD203B41FA5}">
                      <a16:colId xmlns:a16="http://schemas.microsoft.com/office/drawing/2014/main" val="2505139683"/>
                    </a:ext>
                  </a:extLst>
                </a:gridCol>
                <a:gridCol w="3382030">
                  <a:extLst>
                    <a:ext uri="{9D8B030D-6E8A-4147-A177-3AD203B41FA5}">
                      <a16:colId xmlns:a16="http://schemas.microsoft.com/office/drawing/2014/main" val="3167433962"/>
                    </a:ext>
                  </a:extLst>
                </a:gridCol>
                <a:gridCol w="2020279">
                  <a:extLst>
                    <a:ext uri="{9D8B030D-6E8A-4147-A177-3AD203B41FA5}">
                      <a16:colId xmlns:a16="http://schemas.microsoft.com/office/drawing/2014/main" val="3444334355"/>
                    </a:ext>
                  </a:extLst>
                </a:gridCol>
                <a:gridCol w="2020279">
                  <a:extLst>
                    <a:ext uri="{9D8B030D-6E8A-4147-A177-3AD203B41FA5}">
                      <a16:colId xmlns:a16="http://schemas.microsoft.com/office/drawing/2014/main" val="75693281"/>
                    </a:ext>
                  </a:extLst>
                </a:gridCol>
              </a:tblGrid>
              <a:tr h="892862">
                <a:tc>
                  <a:txBody>
                    <a:bodyPr/>
                    <a:lstStyle/>
                    <a:p>
                      <a:r>
                        <a:rPr lang="en-IN" sz="1400" dirty="0">
                          <a:latin typeface="Times New Roman" panose="02020603050405020304" pitchFamily="18" charset="0"/>
                          <a:cs typeface="Times New Roman" panose="02020603050405020304" pitchFamily="18" charset="0"/>
                        </a:rPr>
                        <a:t>Rank</a:t>
                      </a:r>
                    </a:p>
                  </a:txBody>
                  <a:tcPr/>
                </a:tc>
                <a:tc>
                  <a:txBody>
                    <a:bodyPr/>
                    <a:lstStyle/>
                    <a:p>
                      <a:r>
                        <a:rPr lang="en-IN" sz="1400" dirty="0">
                          <a:latin typeface="Times New Roman" panose="02020603050405020304" pitchFamily="18" charset="0"/>
                          <a:cs typeface="Times New Roman" panose="02020603050405020304" pitchFamily="18" charset="0"/>
                        </a:rPr>
                        <a:t>Ref. No.</a:t>
                      </a:r>
                    </a:p>
                  </a:txBody>
                  <a:tcPr/>
                </a:tc>
                <a:tc>
                  <a:txBody>
                    <a:bodyPr/>
                    <a:lstStyle/>
                    <a:p>
                      <a:r>
                        <a:rPr lang="en-IN" sz="1400" dirty="0">
                          <a:latin typeface="Times New Roman" panose="02020603050405020304" pitchFamily="18" charset="0"/>
                          <a:cs typeface="Times New Roman" panose="02020603050405020304" pitchFamily="18" charset="0"/>
                        </a:rPr>
                        <a:t>Paper</a:t>
                      </a:r>
                    </a:p>
                  </a:txBody>
                  <a:tcPr/>
                </a:tc>
                <a:tc>
                  <a:txBody>
                    <a:bodyPr/>
                    <a:lstStyle/>
                    <a:p>
                      <a:r>
                        <a:rPr lang="en-IN" sz="1400" dirty="0">
                          <a:latin typeface="Times New Roman" panose="02020603050405020304" pitchFamily="18" charset="0"/>
                          <a:cs typeface="Times New Roman" panose="02020603050405020304" pitchFamily="18" charset="0"/>
                        </a:rPr>
                        <a:t>Api/Technology</a:t>
                      </a:r>
                    </a:p>
                  </a:txBody>
                  <a:tcPr/>
                </a:tc>
                <a:tc>
                  <a:txBody>
                    <a:bodyPr/>
                    <a:lstStyle/>
                    <a:p>
                      <a:r>
                        <a:rPr lang="en-IN" sz="1400" dirty="0">
                          <a:latin typeface="Times New Roman" panose="02020603050405020304" pitchFamily="18" charset="0"/>
                          <a:cs typeface="Times New Roman" panose="02020603050405020304" pitchFamily="18" charset="0"/>
                        </a:rPr>
                        <a:t>Why It Best Suits Your Project</a:t>
                      </a:r>
                    </a:p>
                  </a:txBody>
                  <a:tcPr/>
                </a:tc>
                <a:tc>
                  <a:txBody>
                    <a:bodyPr/>
                    <a:lstStyle/>
                    <a:p>
                      <a:r>
                        <a:rPr lang="en-IN" sz="1400" dirty="0">
                          <a:latin typeface="Times New Roman" panose="02020603050405020304" pitchFamily="18" charset="0"/>
                          <a:cs typeface="Times New Roman" panose="02020603050405020304" pitchFamily="18" charset="0"/>
                        </a:rPr>
                        <a:t>How You Can Use IT(Findings)</a:t>
                      </a:r>
                    </a:p>
                  </a:txBody>
                  <a:tcPr/>
                </a:tc>
                <a:tc>
                  <a:txBody>
                    <a:bodyPr/>
                    <a:lstStyle/>
                    <a:p>
                      <a:r>
                        <a:rPr lang="en-IN" sz="1400" dirty="0" err="1">
                          <a:latin typeface="Times New Roman" panose="02020603050405020304" pitchFamily="18" charset="0"/>
                          <a:cs typeface="Times New Roman" panose="02020603050405020304" pitchFamily="18" charset="0"/>
                        </a:rPr>
                        <a:t>Refrences</a:t>
                      </a:r>
                      <a:r>
                        <a:rPr lang="en-IN" sz="1400" dirty="0">
                          <a:latin typeface="Times New Roman" panose="02020603050405020304" pitchFamily="18" charset="0"/>
                          <a:cs typeface="Times New Roman" panose="02020603050405020304" pitchFamily="18" charset="0"/>
                        </a:rPr>
                        <a:t> papers link</a:t>
                      </a:r>
                    </a:p>
                  </a:txBody>
                  <a:tcPr/>
                </a:tc>
                <a:extLst>
                  <a:ext uri="{0D108BD9-81ED-4DB2-BD59-A6C34878D82A}">
                    <a16:rowId xmlns:a16="http://schemas.microsoft.com/office/drawing/2014/main" val="1602450898"/>
                  </a:ext>
                </a:extLst>
              </a:tr>
              <a:tr h="1019742">
                <a:tc>
                  <a:txBody>
                    <a:bodyPr/>
                    <a:lstStyle/>
                    <a:p>
                      <a:pPr algn="r">
                        <a:lnSpc>
                          <a:spcPct val="100000"/>
                        </a:lnSpc>
                      </a:pPr>
                      <a:r>
                        <a:rPr lang="en-IN" sz="1000" dirty="0">
                          <a:latin typeface="Times New Roman" panose="02020603050405020304" pitchFamily="18" charset="0"/>
                          <a:cs typeface="Times New Roman" panose="02020603050405020304" pitchFamily="18" charset="0"/>
                        </a:rPr>
                        <a:t>        1</a:t>
                      </a:r>
                    </a:p>
                  </a:txBody>
                  <a:tcPr/>
                </a:tc>
                <a:tc>
                  <a:txBody>
                    <a:bodyPr/>
                    <a:lstStyle/>
                    <a:p>
                      <a:pPr algn="just">
                        <a:lnSpc>
                          <a:spcPct val="100000"/>
                        </a:lnSpc>
                      </a:pPr>
                      <a:r>
                        <a:rPr lang="en-IN" sz="1000" b="1" dirty="0">
                          <a:latin typeface="Times New Roman" panose="02020603050405020304" pitchFamily="18" charset="0"/>
                          <a:cs typeface="Times New Roman" panose="02020603050405020304" pitchFamily="18" charset="0"/>
                        </a:rPr>
                        <a:t>https://ray.yorksj.ac.uk/id/eprint/9863/1/06.pdf</a:t>
                      </a:r>
                    </a:p>
                  </a:txBody>
                  <a:tcPr/>
                </a:tc>
                <a:tc>
                  <a:txBody>
                    <a:bodyPr/>
                    <a:lstStyle/>
                    <a:p>
                      <a:pPr algn="ctr" fontAlgn="b">
                        <a:lnSpc>
                          <a:spcPct val="100000"/>
                        </a:lnSpc>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Domain Pro Chatbot: A Multi-Domain AI Career Advisor System</a:t>
                      </a:r>
                    </a:p>
                  </a:txBody>
                  <a:tcPr marL="7620" marR="7620" marT="7620" marB="0" anchor="b"/>
                </a:tc>
                <a:tc>
                  <a:txBody>
                    <a:bodyPr/>
                    <a:lstStyle/>
                    <a:p>
                      <a:pPr algn="ctr" fontAlgn="b">
                        <a:lnSpc>
                          <a:spcPct val="100000"/>
                        </a:lnSpc>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Google Gemini API, Python, Flask, SQLite</a:t>
                      </a:r>
                    </a:p>
                  </a:txBody>
                  <a:tcPr marL="7620" marR="7620" marT="7620" marB="0" anchor="b"/>
                </a:tc>
                <a:tc>
                  <a:txBody>
                    <a:bodyPr/>
                    <a:lstStyle/>
                    <a:p>
                      <a:pPr algn="ctr" fontAlgn="b">
                        <a:lnSpc>
                          <a:spcPct val="100000"/>
                        </a:lnSpc>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Strongest practical match: a lightweight, self-hosted chatbot using Gemini, user accounts, stored conversations, and minimal infrastructure.</a:t>
                      </a:r>
                    </a:p>
                  </a:txBody>
                  <a:tcPr marL="7620" marR="7620" marT="7620" marB="0" anchor="b"/>
                </a:tc>
                <a:tc>
                  <a:txBody>
                    <a:bodyPr/>
                    <a:lstStyle/>
                    <a:p>
                      <a:pPr algn="ctr" fontAlgn="b">
                        <a:lnSpc>
                          <a:spcPct val="100000"/>
                        </a:lnSpc>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 as the main implementation reference for Gemini API integration, authentication, chat storage, and a web-based chatbot architecture.</a:t>
                      </a:r>
                    </a:p>
                  </a:txBody>
                  <a:tcPr marL="7620" marR="7620" marT="7620" marB="0" anchor="b"/>
                </a:tc>
                <a:tc>
                  <a:txBody>
                    <a:bodyPr/>
                    <a:lstStyle/>
                    <a:p>
                      <a:pPr algn="ctr" fontAlgn="b">
                        <a:lnSpc>
                          <a:spcPct val="100000"/>
                        </a:lnSpc>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hlinkClick r:id="rId2"/>
                        </a:rPr>
                        <a:t>https://www.ijirset.com/upload/2024/april/33_Personalized.pdf</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858254843"/>
                  </a:ext>
                </a:extLst>
              </a:tr>
              <a:tr h="989589">
                <a:tc>
                  <a:txBody>
                    <a:bodyPr/>
                    <a:lstStyle/>
                    <a:p>
                      <a:pPr algn="r"/>
                      <a:r>
                        <a:rPr lang="en-IN" sz="1000" dirty="0">
                          <a:latin typeface="Times New Roman" panose="02020603050405020304" pitchFamily="18" charset="0"/>
                          <a:cs typeface="Times New Roman" panose="02020603050405020304" pitchFamily="18" charset="0"/>
                        </a:rPr>
                        <a:t>       2</a:t>
                      </a:r>
                    </a:p>
                  </a:txBody>
                  <a:tcPr/>
                </a:tc>
                <a:tc>
                  <a:txBody>
                    <a:bodyPr/>
                    <a:lstStyle/>
                    <a:p>
                      <a:pPr algn="just"/>
                      <a:r>
                        <a:rPr lang="en-IN" sz="1000" b="1" dirty="0">
                          <a:latin typeface="Times New Roman" panose="02020603050405020304" pitchFamily="18" charset="0"/>
                          <a:cs typeface="Times New Roman" panose="02020603050405020304" pitchFamily="18" charset="0"/>
                        </a:rPr>
                        <a:t>https://journals.ekb.eg/</a:t>
                      </a:r>
                    </a:p>
                  </a:txBody>
                  <a:tcPr/>
                </a:tc>
                <a:tc>
                  <a:txBody>
                    <a:bodyPr/>
                    <a:lstStyle/>
                    <a:p>
                      <a:pPr rtl="0"/>
                      <a:r>
                        <a:rPr lang="en-IN" sz="1000" b="0" i="0" dirty="0">
                          <a:solidFill>
                            <a:schemeClr val="dk1"/>
                          </a:solidFill>
                          <a:effectLst/>
                          <a:latin typeface="Times New Roman" panose="02020603050405020304" pitchFamily="18" charset="0"/>
                          <a:ea typeface="+mn-ea"/>
                          <a:cs typeface="Times New Roman" panose="02020603050405020304" pitchFamily="18" charset="0"/>
                        </a:rPr>
                        <a:t>Implementation of the Gemini LLM in Android-Based Chatbot Application Development</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Gemini API key, Android</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Directly studies implementation of a Gemini API key in a chatbot and verifies whether the application can use Gemini functionality successfully.</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Cite it to justify that your system can rely on a hosted Gemini model rather than training an LLM. Adapt the Android implementation concept to your web application.</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hlinkClick r:id="rId3"/>
                        </a:rPr>
                        <a:t>https://e-journal.gomit.id/jsseis/article/view/70</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437669556"/>
                  </a:ext>
                </a:extLst>
              </a:tr>
              <a:tr h="1483261">
                <a:tc>
                  <a:txBody>
                    <a:bodyPr/>
                    <a:lstStyle/>
                    <a:p>
                      <a:pPr algn="r"/>
                      <a:r>
                        <a:rPr lang="en-IN" sz="1000" dirty="0">
                          <a:latin typeface="Times New Roman" panose="02020603050405020304" pitchFamily="18" charset="0"/>
                          <a:cs typeface="Times New Roman" panose="02020603050405020304" pitchFamily="18" charset="0"/>
                        </a:rPr>
                        <a:t>      3</a:t>
                      </a:r>
                    </a:p>
                  </a:txBody>
                  <a:tcPr/>
                </a:tc>
                <a:tc>
                  <a:txBody>
                    <a:bodyPr/>
                    <a:lstStyle/>
                    <a:p>
                      <a:pPr algn="just"/>
                      <a:r>
                        <a:rPr lang="en-IN" sz="1000" b="1" dirty="0">
                          <a:latin typeface="Times New Roman" panose="02020603050405020304" pitchFamily="18" charset="0"/>
                          <a:cs typeface="Times New Roman" panose="02020603050405020304" pitchFamily="18" charset="0"/>
                        </a:rPr>
                        <a:t>https://zuscholars.zu.ac.ae/cgi/viewcontent.cgi?article=6907&amp;context=works</a:t>
                      </a:r>
                    </a:p>
                  </a:txBody>
                  <a:tcPr/>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Personalized Chatbot Optimization Using OpenAI</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OpenAI API, user-oriented chatbot personalization</a:t>
                      </a:r>
                    </a:p>
                  </a:txBody>
                  <a:tcPr marL="7620" marR="7620" marT="7620" marB="0" anchor="b"/>
                </a:tc>
                <a:tc>
                  <a:txBody>
                    <a:bodyPr/>
                    <a:lstStyle/>
                    <a:p>
                      <a:pPr rtl="0"/>
                      <a:r>
                        <a:rPr lang="en-IN" sz="1000" b="0" i="0" dirty="0">
                          <a:solidFill>
                            <a:schemeClr val="dk1"/>
                          </a:solidFill>
                          <a:effectLst/>
                          <a:latin typeface="Times New Roman" panose="02020603050405020304" pitchFamily="18" charset="0"/>
                          <a:ea typeface="+mn-ea"/>
                          <a:cs typeface="Times New Roman" panose="02020603050405020304" pitchFamily="18" charset="0"/>
                        </a:rPr>
                        <a:t>Direct match for your personalization goal: an application-level chatbot using an external API. The exact published title is Personalized Chatbot Optimization Using Open AI developer android</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 in the literature review to show that personalization can be handled through user context and prompt design, without claiming RAG.</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hlinkClick r:id="rId4"/>
                        </a:rPr>
                        <a:t>https://ijcrt.org/viewpaperforall.php?paper=IJCRT2609024</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4117042435"/>
                  </a:ext>
                </a:extLst>
              </a:tr>
              <a:tr h="662207">
                <a:tc>
                  <a:txBody>
                    <a:bodyPr/>
                    <a:lstStyle/>
                    <a:p>
                      <a:pPr algn="r"/>
                      <a:r>
                        <a:rPr lang="en-IN" sz="1000" dirty="0">
                          <a:latin typeface="Times New Roman" panose="02020603050405020304" pitchFamily="18" charset="0"/>
                          <a:cs typeface="Times New Roman" panose="02020603050405020304" pitchFamily="18" charset="0"/>
                        </a:rPr>
                        <a:t>     4</a:t>
                      </a:r>
                    </a:p>
                  </a:txBody>
                  <a:tcPr/>
                </a:tc>
                <a:tc>
                  <a:txBody>
                    <a:bodyPr/>
                    <a:lstStyle/>
                    <a:p>
                      <a:pPr algn="just" fontAlgn="b">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Developer android</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AI Chatbot Using the MERN Stack and OpenAI API</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MongoDB, Express.js, React, Node.js, OpenAI API</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Relevant full-stack example: web interface, backend server, database, and LLM API communication. Related implementations use the MERN stack with OpenAI to create full-stack chatbot applications.</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 it for your system-design chapter: frontend â†’ backend â†’ LLM API â†’ generated response â†’ chat UI.</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hlinkClick r:id="rId5"/>
                        </a:rPr>
                        <a:t>https://ijrpr.com/uploads/V6ISSUE7/IJRPR50882.pdf</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2237190998"/>
                  </a:ext>
                </a:extLst>
              </a:tr>
              <a:tr h="1153280">
                <a:tc>
                  <a:txBody>
                    <a:bodyPr/>
                    <a:lstStyle/>
                    <a:p>
                      <a:pPr algn="r"/>
                      <a:endParaRPr lang="en-IN" sz="1000" dirty="0">
                        <a:latin typeface="Times New Roman" panose="02020603050405020304" pitchFamily="18" charset="0"/>
                        <a:cs typeface="Times New Roman" panose="02020603050405020304" pitchFamily="18" charset="0"/>
                      </a:endParaRPr>
                    </a:p>
                    <a:p>
                      <a:pPr algn="r"/>
                      <a:r>
                        <a:rPr lang="en-IN" sz="1000" dirty="0">
                          <a:latin typeface="Times New Roman" panose="02020603050405020304" pitchFamily="18" charset="0"/>
                          <a:cs typeface="Times New Roman" panose="02020603050405020304" pitchFamily="18" charset="0"/>
                        </a:rPr>
                        <a:t>     5</a:t>
                      </a:r>
                    </a:p>
                    <a:p>
                      <a:pPr algn="r"/>
                      <a:r>
                        <a:rPr lang="en-IN" sz="1000" dirty="0">
                          <a:latin typeface="Times New Roman" panose="02020603050405020304" pitchFamily="18" charset="0"/>
                          <a:cs typeface="Times New Roman" panose="02020603050405020304" pitchFamily="18" charset="0"/>
                        </a:rPr>
                        <a:t>      </a:t>
                      </a:r>
                    </a:p>
                  </a:txBody>
                  <a:tcPr/>
                </a:tc>
                <a:tc>
                  <a:txBody>
                    <a:bodyPr/>
                    <a:lstStyle/>
                    <a:p>
                      <a:pPr algn="just" fontAlgn="b">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 Developer     android</a:t>
                      </a:r>
                      <a:br>
                        <a:rPr lang="en-IN" sz="1000" b="1" i="0" u="none" strike="noStrike" dirty="0">
                          <a:solidFill>
                            <a:srgbClr val="000000"/>
                          </a:solidFill>
                          <a:effectLst/>
                          <a:latin typeface="Times New Roman" panose="02020603050405020304" pitchFamily="18" charset="0"/>
                          <a:cs typeface="Times New Roman" panose="02020603050405020304" pitchFamily="18" charset="0"/>
                        </a:rPr>
                      </a:br>
                      <a:br>
                        <a:rPr lang="en-IN" sz="1000" b="1" i="0" u="none" strike="noStrike" dirty="0">
                          <a:solidFill>
                            <a:srgbClr val="000000"/>
                          </a:solidFill>
                          <a:effectLst/>
                          <a:latin typeface="Times New Roman" panose="02020603050405020304" pitchFamily="18" charset="0"/>
                          <a:cs typeface="Times New Roman" panose="02020603050405020304" pitchFamily="18" charset="0"/>
                        </a:rPr>
                      </a:br>
                      <a:endParaRPr lang="en-IN" sz="1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Voice Command Chatbot with ChatGPT Integration</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Python, Flask, OpenAI API, Gemini API, Google TTS / pyttsx3</a:t>
                      </a:r>
                      <a:br>
                        <a:rPr lang="en-IN" sz="1000" b="0" i="0" u="none" strike="noStrike" dirty="0">
                          <a:solidFill>
                            <a:srgbClr val="000000"/>
                          </a:solidFill>
                          <a:effectLst/>
                          <a:latin typeface="Times New Roman" panose="02020603050405020304" pitchFamily="18" charset="0"/>
                          <a:cs typeface="Times New Roman" panose="02020603050405020304" pitchFamily="18" charset="0"/>
                        </a:rPr>
                      </a:b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Shows a chatbot that integrates external LLM APIs through a backend service; the paper lists Python, Flask, OpenAI API, Gemini API, and text-to-speech technologies.</a:t>
                      </a:r>
                    </a:p>
                  </a:txBody>
                  <a:tcPr marL="7620" marR="7620" marT="7620" marB="0" anchor="b"/>
                </a:tc>
                <a:tc>
                  <a:txBody>
                    <a:bodyPr/>
                    <a:lstStyle/>
                    <a:p>
                      <a:pPr algn="l"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 it to explain secure server-side API calling, prompt construction, and future work such as voice input/output. Do not list voice as a current feature unless you have implemented it.</a:t>
                      </a:r>
                    </a:p>
                    <a:p>
                      <a:pPr algn="l" fontAlgn="b">
                        <a:buNone/>
                      </a:pP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hlinkClick r:id="rId6"/>
                        </a:rPr>
                        <a:t>https://www.ijsdr.org/papers/IJSDR2511109.pdf</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547067550"/>
                  </a:ext>
                </a:extLst>
              </a:tr>
            </a:tbl>
          </a:graphicData>
        </a:graphic>
      </p:graphicFrame>
    </p:spTree>
    <p:extLst>
      <p:ext uri="{BB962C8B-B14F-4D97-AF65-F5344CB8AC3E}">
        <p14:creationId xmlns:p14="http://schemas.microsoft.com/office/powerpoint/2010/main" val="932884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EC0E580-067A-62B6-9CA5-B234FD571133}"/>
              </a:ext>
            </a:extLst>
          </p:cNvPr>
          <p:cNvGraphicFramePr>
            <a:graphicFrameLocks noGrp="1"/>
          </p:cNvGraphicFramePr>
          <p:nvPr>
            <p:extLst>
              <p:ext uri="{D42A27DB-BD31-4B8C-83A1-F6EECF244321}">
                <p14:modId xmlns:p14="http://schemas.microsoft.com/office/powerpoint/2010/main" val="1525343260"/>
              </p:ext>
            </p:extLst>
          </p:nvPr>
        </p:nvGraphicFramePr>
        <p:xfrm>
          <a:off x="0" y="0"/>
          <a:ext cx="12191999" cy="6858000"/>
        </p:xfrm>
        <a:graphic>
          <a:graphicData uri="http://schemas.openxmlformats.org/drawingml/2006/table">
            <a:tbl>
              <a:tblPr firstRow="1" bandRow="1">
                <a:tableStyleId>{5C22544A-7EE6-4342-B048-85BDC9FD1C3A}</a:tableStyleId>
              </a:tblPr>
              <a:tblGrid>
                <a:gridCol w="1002082">
                  <a:extLst>
                    <a:ext uri="{9D8B030D-6E8A-4147-A177-3AD203B41FA5}">
                      <a16:colId xmlns:a16="http://schemas.microsoft.com/office/drawing/2014/main" val="4149840926"/>
                    </a:ext>
                  </a:extLst>
                </a:gridCol>
                <a:gridCol w="1085589">
                  <a:extLst>
                    <a:ext uri="{9D8B030D-6E8A-4147-A177-3AD203B41FA5}">
                      <a16:colId xmlns:a16="http://schemas.microsoft.com/office/drawing/2014/main" val="1962700210"/>
                    </a:ext>
                  </a:extLst>
                </a:gridCol>
                <a:gridCol w="1837151">
                  <a:extLst>
                    <a:ext uri="{9D8B030D-6E8A-4147-A177-3AD203B41FA5}">
                      <a16:colId xmlns:a16="http://schemas.microsoft.com/office/drawing/2014/main" val="2177285013"/>
                    </a:ext>
                  </a:extLst>
                </a:gridCol>
                <a:gridCol w="1674113">
                  <a:extLst>
                    <a:ext uri="{9D8B030D-6E8A-4147-A177-3AD203B41FA5}">
                      <a16:colId xmlns:a16="http://schemas.microsoft.com/office/drawing/2014/main" val="607814517"/>
                    </a:ext>
                  </a:extLst>
                </a:gridCol>
                <a:gridCol w="2000188">
                  <a:extLst>
                    <a:ext uri="{9D8B030D-6E8A-4147-A177-3AD203B41FA5}">
                      <a16:colId xmlns:a16="http://schemas.microsoft.com/office/drawing/2014/main" val="4007404717"/>
                    </a:ext>
                  </a:extLst>
                </a:gridCol>
                <a:gridCol w="2421699">
                  <a:extLst>
                    <a:ext uri="{9D8B030D-6E8A-4147-A177-3AD203B41FA5}">
                      <a16:colId xmlns:a16="http://schemas.microsoft.com/office/drawing/2014/main" val="4118711551"/>
                    </a:ext>
                  </a:extLst>
                </a:gridCol>
                <a:gridCol w="2171177">
                  <a:extLst>
                    <a:ext uri="{9D8B030D-6E8A-4147-A177-3AD203B41FA5}">
                      <a16:colId xmlns:a16="http://schemas.microsoft.com/office/drawing/2014/main" val="3584088250"/>
                    </a:ext>
                  </a:extLst>
                </a:gridCol>
              </a:tblGrid>
              <a:tr h="80024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Rank</a:t>
                      </a:r>
                    </a:p>
                    <a:p>
                      <a:pPr algn="ct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dirty="0">
                          <a:latin typeface="Times New Roman" panose="02020603050405020304" pitchFamily="18" charset="0"/>
                          <a:cs typeface="Times New Roman" panose="02020603050405020304" pitchFamily="18" charset="0"/>
                        </a:rPr>
                        <a:t>Ref. No.</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Paper</a:t>
                      </a:r>
                    </a:p>
                    <a:p>
                      <a:pPr algn="ct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Api/Technology</a:t>
                      </a:r>
                    </a:p>
                    <a:p>
                      <a:pPr algn="ct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Why It Best Suits Your Project</a:t>
                      </a:r>
                    </a:p>
                    <a:p>
                      <a:pPr algn="ct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How You Can Use IT(Findings)</a:t>
                      </a:r>
                    </a:p>
                    <a:p>
                      <a:pPr algn="ct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Research paper Link</a:t>
                      </a:r>
                    </a:p>
                    <a:p>
                      <a:pPr algn="ct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5937592"/>
                  </a:ext>
                </a:extLst>
              </a:tr>
              <a:tr h="1113470">
                <a:tc>
                  <a:txBody>
                    <a:bodyPr/>
                    <a:lstStyle/>
                    <a:p>
                      <a:pPr algn="r"/>
                      <a:r>
                        <a:rPr lang="en-IN" sz="1000" dirty="0">
                          <a:latin typeface="Times New Roman" panose="02020603050405020304" pitchFamily="18" charset="0"/>
                          <a:cs typeface="Times New Roman" panose="02020603050405020304" pitchFamily="18" charset="0"/>
                        </a:rPr>
                        <a:t>    6</a:t>
                      </a:r>
                    </a:p>
                  </a:txBody>
                  <a:tcPr/>
                </a:tc>
                <a:tc>
                  <a:txBody>
                    <a:bodyPr/>
                    <a:lstStyle/>
                    <a:p>
                      <a:pPr algn="just" fontAlgn="b">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Developer android</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Mind Mate: An AI-Powered Chatbot for Mental Health Support</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Gemini API, web/mobile chatbot backend</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Uses Gemini API to provide user-facing, personalized conversational support.</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 it to support the claim that Gemini can generate context-sensitive and personalized chatbot responses. Clearly state that your project is for knowledge management, not medical or mental-health advice.</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hlinkClick r:id="rId2"/>
                        </a:rPr>
                        <a:t>https://ijrpr.com/uploads/V5ISSUE5/IJRPR27476.pdf</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4054849760"/>
                  </a:ext>
                </a:extLst>
              </a:tr>
              <a:tr h="797388">
                <a:tc>
                  <a:txBody>
                    <a:bodyPr/>
                    <a:lstStyle/>
                    <a:p>
                      <a:pPr algn="r"/>
                      <a:r>
                        <a:rPr lang="en-IN" sz="1000" dirty="0">
                          <a:latin typeface="Times New Roman" panose="02020603050405020304" pitchFamily="18" charset="0"/>
                          <a:cs typeface="Times New Roman" panose="02020603050405020304" pitchFamily="18" charset="0"/>
                        </a:rPr>
                        <a:t>       7</a:t>
                      </a:r>
                    </a:p>
                  </a:txBody>
                  <a:tcPr/>
                </a:tc>
                <a:tc>
                  <a:txBody>
                    <a:bodyPr/>
                    <a:lstStyle/>
                    <a:p>
                      <a:pPr algn="just" fontAlgn="b">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google</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GENIE: Intelligent Chatbot</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MERN stack, OpenAI API, GPT-based generation</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A web application built using MERN that integrates OpenAI APIs for text and code generation.</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 it as an additional full-stack reference for responsive UI, API routing, environment-variable management, and calling an external LLM from a backend.</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hlinkClick r:id="rId3"/>
                        </a:rPr>
                        <a:t>https://www.ijcrt.org/papers/IJCRT24A5643.pdf</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2685555201"/>
                  </a:ext>
                </a:extLst>
              </a:tr>
              <a:tr h="1364716">
                <a:tc>
                  <a:txBody>
                    <a:bodyPr/>
                    <a:lstStyle/>
                    <a:p>
                      <a:pPr algn="r"/>
                      <a:r>
                        <a:rPr lang="en-IN" sz="1000" dirty="0">
                          <a:latin typeface="Times New Roman" panose="02020603050405020304" pitchFamily="18" charset="0"/>
                          <a:cs typeface="Times New Roman" panose="02020603050405020304" pitchFamily="18" charset="0"/>
                        </a:rPr>
                        <a:t>     8</a:t>
                      </a:r>
                    </a:p>
                  </a:txBody>
                  <a:tcPr/>
                </a:tc>
                <a:tc>
                  <a:txBody>
                    <a:bodyPr/>
                    <a:lstStyle/>
                    <a:p>
                      <a:pPr algn="just" fontAlgn="b">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Developer android</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Selection of Large Language Model for Development of Interactive Chat Bot for SaaS Solutions</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ChatGPT/OpenAI API, Cohere API, Llama API comparison</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Useful for explaining why a project uses a hosted LLM API instead of building a model from scratch. The study evaluates three API-accessible models and recommends ChatGPT based on speed, cost-effectiveness, and relevance. Developer android</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 in the methodology or technology-selection section to compare Gemini, OpenAI, Cohere, and other LLM APIs by cost, response quality, availability, and ease of integration.</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1890+Jurnal+IJSET+Lianawati+Suwito.pdf</a:t>
                      </a:r>
                    </a:p>
                  </a:txBody>
                  <a:tcPr marL="7620" marR="7620" marT="7620" marB="0" anchor="b"/>
                </a:tc>
                <a:extLst>
                  <a:ext uri="{0D108BD9-81ED-4DB2-BD59-A6C34878D82A}">
                    <a16:rowId xmlns:a16="http://schemas.microsoft.com/office/drawing/2014/main" val="4118002891"/>
                  </a:ext>
                </a:extLst>
              </a:tr>
              <a:tr h="1391090">
                <a:tc>
                  <a:txBody>
                    <a:bodyPr/>
                    <a:lstStyle/>
                    <a:p>
                      <a:pPr algn="r"/>
                      <a:r>
                        <a:rPr lang="en-IN" sz="1000" dirty="0">
                          <a:latin typeface="Times New Roman" panose="02020603050405020304" pitchFamily="18" charset="0"/>
                          <a:cs typeface="Times New Roman" panose="02020603050405020304" pitchFamily="18" charset="0"/>
                        </a:rPr>
                        <a:t>    9</a:t>
                      </a:r>
                    </a:p>
                    <a:p>
                      <a:pPr algn="r"/>
                      <a:endParaRPr lang="en-IN" sz="1000" dirty="0">
                        <a:latin typeface="Times New Roman" panose="02020603050405020304" pitchFamily="18" charset="0"/>
                        <a:cs typeface="Times New Roman" panose="02020603050405020304" pitchFamily="18" charset="0"/>
                      </a:endParaRPr>
                    </a:p>
                    <a:p>
                      <a:pPr algn="r"/>
                      <a:r>
                        <a:rPr lang="en-IN" sz="1000" dirty="0">
                          <a:latin typeface="Times New Roman" panose="02020603050405020304" pitchFamily="18" charset="0"/>
                          <a:cs typeface="Times New Roman" panose="02020603050405020304" pitchFamily="18" charset="0"/>
                        </a:rPr>
                        <a:t> </a:t>
                      </a:r>
                    </a:p>
                  </a:txBody>
                  <a:tcPr/>
                </a:tc>
                <a:tc>
                  <a:txBody>
                    <a:bodyPr/>
                    <a:lstStyle/>
                    <a:p>
                      <a:pPr algn="just" fontAlgn="b">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journal.umgo.ac</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Cooking and Food Information Chatbot System Using GPT-3</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GPT-3, OpenAI API</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A domain-specific chatbot that uses GPT-3 to provide food-related information and personalized recommendations. The Cook Pal chatbot was developed to support healthy-eating information and dietary concerns. Developer android</a:t>
                      </a: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Use it to show that a general-purpose LLM API can be adapted to a specialized domain by using structured prompts and user inputs. Your specialized domain is personal and organizational knowledge access.</a:t>
                      </a:r>
                    </a:p>
                  </a:txBody>
                  <a:tcPr marL="7620" marR="7620" marT="7620" marB="0" anchor="b"/>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lang="en-IN" sz="1000" b="1" i="0" u="none" strike="noStrike" dirty="0">
                        <a:solidFill>
                          <a:srgbClr val="000000"/>
                        </a:solidFill>
                        <a:effectLst/>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r>
                        <a:rPr lang="en-IN" sz="1000" b="0" dirty="0">
                          <a:latin typeface="Times New Roman" panose="02020603050405020304" pitchFamily="18" charset="0"/>
                          <a:cs typeface="Times New Roman" panose="02020603050405020304" pitchFamily="18" charset="0"/>
                          <a:hlinkClick r:id="rId4"/>
                        </a:rPr>
                        <a:t>https://rjwave.org/jaafr/papers/JAAFR26A5269.pdf</a:t>
                      </a:r>
                      <a:endParaRPr lang="en-IN" sz="1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77411059"/>
                  </a:ext>
                </a:extLst>
              </a:tr>
              <a:tr h="1391090">
                <a:tc>
                  <a:txBody>
                    <a:bodyPr/>
                    <a:lstStyle/>
                    <a:p>
                      <a:pPr algn="r"/>
                      <a:r>
                        <a:rPr lang="en-IN" sz="1000" dirty="0">
                          <a:latin typeface="Times New Roman" panose="02020603050405020304" pitchFamily="18" charset="0"/>
                          <a:cs typeface="Times New Roman" panose="02020603050405020304" pitchFamily="18" charset="0"/>
                        </a:rPr>
                        <a:t>10 </a:t>
                      </a:r>
                    </a:p>
                  </a:txBody>
                  <a:tcPr/>
                </a:tc>
                <a:tc>
                  <a:txBody>
                    <a:bodyPr/>
                    <a:lstStyle/>
                    <a:p>
                      <a:pPr algn="just" fontAlgn="b">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journal.eng.unila.ac</a:t>
                      </a:r>
                    </a:p>
                  </a:txBody>
                  <a:tcPr marL="7620" marR="7620" marT="7620" marB="0" anchor="b"/>
                </a:tc>
                <a:tc>
                  <a:txBody>
                    <a:bodyPr/>
                    <a:lstStyle/>
                    <a:p>
                      <a:pPr algn="ctr"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Thinking Assistants: LLM-Based Conversational Assistants</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GPT-4, OpenAI Streaming API</a:t>
                      </a:r>
                    </a:p>
                  </a:txBody>
                  <a:tcPr marL="7620" marR="7620" marT="7620" marB="0" anchor="b"/>
                </a:tc>
                <a:tc>
                  <a:txBody>
                    <a:bodyPr/>
                    <a:lstStyle/>
                    <a:p>
                      <a:pPr algn="ctr"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Relevant for responsive multi-turn conversation, interactive assistant behavior, and user-facing chat design.</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Use it when discussing chat history, conversation flow, streaming responses, usability, and future enhancement of the chatbot interface.</a:t>
                      </a: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a:endParaRPr lang="en-IN" sz="1000" b="1" dirty="0">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endParaRPr lang="en-IN" sz="1000" b="1" dirty="0">
                        <a:latin typeface="Times New Roman" panose="02020603050405020304" pitchFamily="18" charset="0"/>
                        <a:cs typeface="Times New Roman" panose="02020603050405020304" pitchFamily="18" charset="0"/>
                      </a:endParaRPr>
                    </a:p>
                    <a:p>
                      <a:pPr algn="ctr"/>
                      <a:r>
                        <a:rPr lang="en-IN" sz="1000" b="0" dirty="0">
                          <a:latin typeface="Times New Roman" panose="02020603050405020304" pitchFamily="18" charset="0"/>
                          <a:cs typeface="Times New Roman" panose="02020603050405020304" pitchFamily="18" charset="0"/>
                          <a:hlinkClick r:id="rId5"/>
                        </a:rPr>
                        <a:t>https://www.ijisrt.com/assets/upload/files/IJISRT25SEP264.pdf</a:t>
                      </a:r>
                      <a:endParaRPr lang="en-IN" sz="1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96527339"/>
                  </a:ext>
                </a:extLst>
              </a:tr>
            </a:tbl>
          </a:graphicData>
        </a:graphic>
      </p:graphicFrame>
    </p:spTree>
    <p:extLst>
      <p:ext uri="{BB962C8B-B14F-4D97-AF65-F5344CB8AC3E}">
        <p14:creationId xmlns:p14="http://schemas.microsoft.com/office/powerpoint/2010/main" val="3322816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AF64-AB9D-13E1-6459-D6DC91C45B4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Research Gap</a:t>
            </a:r>
          </a:p>
        </p:txBody>
      </p:sp>
      <p:sp>
        <p:nvSpPr>
          <p:cNvPr id="4" name="TextBox 3">
            <a:extLst>
              <a:ext uri="{FF2B5EF4-FFF2-40B4-BE49-F238E27FC236}">
                <a16:creationId xmlns:a16="http://schemas.microsoft.com/office/drawing/2014/main" id="{0E21B48D-CB96-ECA4-006B-6D9DAFACBFC0}"/>
              </a:ext>
            </a:extLst>
          </p:cNvPr>
          <p:cNvSpPr txBox="1"/>
          <p:nvPr/>
        </p:nvSpPr>
        <p:spPr>
          <a:xfrm>
            <a:off x="266699" y="1524000"/>
            <a:ext cx="11658600" cy="4524315"/>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Previous studies have shown that external Large Language Model APIs, including Gemini and OpenAI APIs, can be integrated into web and mobile applications to provide interactive, contextual, and personalized chatbot responses. Existing systems commonly focus on individual domains such as customer service, career guidance, mental-health support, website assistance, or library services. However, many do not combine API-based personalized chat interaction with a general-purpose knowledge management environment that supports secure user access, centralized document organization, categorization, document-update tracking, and unified information access. The proposed Smart Knowledge Management System addresses this integration gap by providing a full-stack platform that combines document management and secure knowledge sharing with an external API-based personalized chatbot. The current system uses API-key integration and prompt-based interaction, without implementing RAG, vector databases, Lang Chain, embeddings, or a custom NLP pipeline.</a:t>
            </a:r>
          </a:p>
        </p:txBody>
      </p:sp>
    </p:spTree>
    <p:extLst>
      <p:ext uri="{BB962C8B-B14F-4D97-AF65-F5344CB8AC3E}">
        <p14:creationId xmlns:p14="http://schemas.microsoft.com/office/powerpoint/2010/main" val="1164674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551430" algn="just">
              <a:lnSpc>
                <a:spcPct val="100000"/>
              </a:lnSpc>
              <a:spcBef>
                <a:spcPts val="100"/>
              </a:spcBef>
            </a:pPr>
            <a:r>
              <a:rPr spc="-10" dirty="0">
                <a:latin typeface="Times New Roman" panose="02020603050405020304" pitchFamily="18" charset="0"/>
                <a:cs typeface="Times New Roman" panose="02020603050405020304" pitchFamily="18" charset="0"/>
              </a:rPr>
              <a:t>Objectives</a:t>
            </a:r>
          </a:p>
        </p:txBody>
      </p:sp>
      <p:sp>
        <p:nvSpPr>
          <p:cNvPr id="4" name="object 4"/>
          <p:cNvSpPr txBox="1">
            <a:spLocks noGrp="1"/>
          </p:cNvSpPr>
          <p:nvPr>
            <p:ph type="ftr" sz="quarter" idx="5"/>
          </p:nvPr>
        </p:nvSpPr>
        <p:spPr>
          <a:xfrm>
            <a:off x="3810000" y="6466765"/>
            <a:ext cx="4923790" cy="243656"/>
          </a:xfrm>
          <a:prstGeom prst="rect">
            <a:avLst/>
          </a:prstGeom>
        </p:spPr>
        <p:txBody>
          <a:bodyPr vert="horz" wrap="square" lIns="0" tIns="0" rIns="0" bIns="0" rtlCol="0">
            <a:spAutoFit/>
          </a:bodyPr>
          <a:lstStyle/>
          <a:p>
            <a:pPr algn="just">
              <a:lnSpc>
                <a:spcPts val="1860"/>
              </a:lnSpc>
            </a:pPr>
            <a:r>
              <a:rPr dirty="0"/>
              <a:t>DEPARTMENT</a:t>
            </a:r>
            <a:r>
              <a:rPr spc="-45" dirty="0"/>
              <a:t> </a:t>
            </a:r>
            <a:r>
              <a:rPr dirty="0"/>
              <a:t>OF</a:t>
            </a:r>
            <a:r>
              <a:rPr spc="-35" dirty="0"/>
              <a:t> </a:t>
            </a:r>
            <a:r>
              <a:rPr dirty="0"/>
              <a:t>COMPUTER</a:t>
            </a:r>
            <a:r>
              <a:rPr spc="-30" dirty="0"/>
              <a:t> </a:t>
            </a:r>
            <a:r>
              <a:rPr spc="-10" dirty="0"/>
              <a:t>ENGINEERING</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gn="just">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gn="just">
              <a:lnSpc>
                <a:spcPts val="1240"/>
              </a:lnSpc>
            </a:pPr>
            <a:fld id="{81D60167-4931-47E6-BA6A-407CBD079E47}" type="slidenum">
              <a:rPr spc="-50" dirty="0"/>
              <a:t>10</a:t>
            </a:fld>
            <a:endParaRPr spc="-50" dirty="0"/>
          </a:p>
        </p:txBody>
      </p:sp>
      <p:sp>
        <p:nvSpPr>
          <p:cNvPr id="3" name="object 3"/>
          <p:cNvSpPr txBox="1"/>
          <p:nvPr/>
        </p:nvSpPr>
        <p:spPr>
          <a:xfrm>
            <a:off x="705485" y="1609090"/>
            <a:ext cx="10695305" cy="3818890"/>
          </a:xfrm>
          <a:prstGeom prst="rect">
            <a:avLst/>
          </a:prstGeom>
        </p:spPr>
        <p:txBody>
          <a:bodyPr vert="horz" wrap="square" lIns="0" tIns="12700" rIns="0" bIns="0" rtlCol="0">
            <a:spAutoFit/>
          </a:bodyPr>
          <a:lstStyle/>
          <a:p>
            <a:pPr marL="12065" marR="5080" algn="just">
              <a:lnSpc>
                <a:spcPct val="100000"/>
              </a:lnSpc>
              <a:spcBef>
                <a:spcPts val="100"/>
              </a:spcBef>
              <a:tabLst>
                <a:tab pos="332105" algn="l"/>
              </a:tabLst>
            </a:pPr>
            <a:r>
              <a:rPr lang="en-IN" sz="2800" b="1" spc="-10" dirty="0">
                <a:latin typeface="Times New Roman" panose="02020603050405020304" pitchFamily="18" charset="0"/>
                <a:cs typeface="Times New Roman" panose="02020603050405020304" pitchFamily="18" charset="0"/>
              </a:rPr>
              <a:t>Objectives</a:t>
            </a:r>
            <a:endParaRPr lang="en-IN" sz="3600" b="1" dirty="0">
              <a:latin typeface="Times New Roman" panose="02020603050405020304" pitchFamily="18" charset="0"/>
              <a:cs typeface="Times New Roman" panose="02020603050405020304" pitchFamily="18" charset="0"/>
            </a:endParaRPr>
          </a:p>
          <a:p>
            <a:pPr marL="12065" marR="5080" algn="just">
              <a:lnSpc>
                <a:spcPct val="100000"/>
              </a:lnSpc>
              <a:spcBef>
                <a:spcPts val="100"/>
              </a:spcBef>
              <a:tabLst>
                <a:tab pos="332105" algn="l"/>
              </a:tabLst>
            </a:pPr>
            <a:endParaRPr lang="en-IN" sz="2400" dirty="0"/>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Primary objectives focus on building an AI - powered knowledge workspace that supports multiple document formats, implements semantic search, enables AI conversation switch documents, and integrates YouTube knowledge extraction . Secondary objectives include generating </a:t>
            </a:r>
            <a:r>
              <a:rPr lang="en-IN" sz="2400" dirty="0">
                <a:latin typeface="Times New Roman" panose="02020603050405020304" pitchFamily="18" charset="0"/>
                <a:cs typeface="Times New Roman" panose="02020603050405020304" pitchFamily="18" charset="0"/>
                <a:sym typeface="+mn-ea"/>
              </a:rPr>
              <a:t>summaries, creating flash cards, building quizzes, maintaining long term workspace memory, and providing source AI-responses .</a:t>
            </a:r>
            <a:endParaRPr lang="en-IN" sz="2400" spc="-20" dirty="0">
              <a:latin typeface="Times New Roman" panose="02020603050405020304" pitchFamily="18" charset="0"/>
              <a:cs typeface="Times New Roman" panose="02020603050405020304" pitchFamily="18" charset="0"/>
            </a:endParaRPr>
          </a:p>
          <a:p>
            <a:pPr marL="12065" marR="5080" algn="just">
              <a:lnSpc>
                <a:spcPct val="100000"/>
              </a:lnSpc>
              <a:spcBef>
                <a:spcPts val="100"/>
              </a:spcBef>
              <a:tabLst>
                <a:tab pos="332105" algn="l"/>
              </a:tabLst>
            </a:pPr>
            <a:endParaRPr lang="en-IN" sz="2400" dirty="0">
              <a:latin typeface="Times New Roman" panose="02020603050405020304" pitchFamily="18" charset="0"/>
              <a:cs typeface="Times New Roman" panose="02020603050405020304" pitchFamily="18" charset="0"/>
            </a:endParaRP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 </a:t>
            </a:r>
            <a:endParaRPr sz="3200" dirty="0">
              <a:latin typeface="Cambria" panose="02040503050406030204"/>
              <a:cs typeface="Cambria" panose="02040503050406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gn="just">
              <a:lnSpc>
                <a:spcPct val="100000"/>
              </a:lnSpc>
              <a:spcBef>
                <a:spcPts val="100"/>
              </a:spcBef>
            </a:pPr>
            <a:r>
              <a:rPr dirty="0">
                <a:latin typeface="Times New Roman" panose="02020603050405020304" pitchFamily="18" charset="0"/>
                <a:cs typeface="Times New Roman" panose="02020603050405020304" pitchFamily="18" charset="0"/>
              </a:rPr>
              <a:t>Required</a:t>
            </a:r>
            <a:r>
              <a:rPr spc="-1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Tools</a:t>
            </a:r>
            <a:r>
              <a:rPr spc="-1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12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Technology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gn="just">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gn="just">
              <a:lnSpc>
                <a:spcPts val="1240"/>
              </a:lnSpc>
            </a:pPr>
            <a:fld id="{81D60167-4931-47E6-BA6A-407CBD079E47}" type="slidenum">
              <a:rPr spc="-50" dirty="0"/>
              <a:t>11</a:t>
            </a:fld>
            <a:endParaRPr spc="-50" dirty="0"/>
          </a:p>
        </p:txBody>
      </p:sp>
      <p:sp>
        <p:nvSpPr>
          <p:cNvPr id="4" name="object 4"/>
          <p:cNvSpPr txBox="1"/>
          <p:nvPr/>
        </p:nvSpPr>
        <p:spPr>
          <a:xfrm>
            <a:off x="3810000" y="6405805"/>
            <a:ext cx="4122420" cy="299720"/>
          </a:xfrm>
          <a:prstGeom prst="rect">
            <a:avLst/>
          </a:prstGeom>
        </p:spPr>
        <p:txBody>
          <a:bodyPr vert="horz" wrap="square" lIns="0" tIns="12700" rIns="0" bIns="0" rtlCol="0">
            <a:spAutoFit/>
          </a:bodyPr>
          <a:lstStyle/>
          <a:p>
            <a:pPr marL="12700" algn="just">
              <a:lnSpc>
                <a:spcPct val="100000"/>
              </a:lnSpc>
              <a:spcBef>
                <a:spcPts val="100"/>
              </a:spcBef>
            </a:pPr>
            <a:r>
              <a:rPr sz="1800" dirty="0">
                <a:latin typeface="Calibri" panose="020F0502020204030204"/>
                <a:cs typeface="Calibri" panose="020F0502020204030204"/>
              </a:rPr>
              <a:t>DEPARTMENT</a:t>
            </a:r>
            <a:r>
              <a:rPr sz="1800" spc="-45" dirty="0">
                <a:latin typeface="Calibri" panose="020F0502020204030204"/>
                <a:cs typeface="Calibri" panose="020F0502020204030204"/>
              </a:rPr>
              <a:t> </a:t>
            </a:r>
            <a:r>
              <a:rPr sz="1800" dirty="0">
                <a:latin typeface="Calibri" panose="020F0502020204030204"/>
                <a:cs typeface="Calibri" panose="020F0502020204030204"/>
              </a:rPr>
              <a:t>OF</a:t>
            </a:r>
            <a:r>
              <a:rPr sz="1800" spc="-35" dirty="0">
                <a:latin typeface="Calibri" panose="020F0502020204030204"/>
                <a:cs typeface="Calibri" panose="020F0502020204030204"/>
              </a:rPr>
              <a:t> </a:t>
            </a:r>
            <a:r>
              <a:rPr sz="1800" dirty="0">
                <a:latin typeface="Calibri" panose="020F0502020204030204"/>
                <a:cs typeface="Calibri" panose="020F0502020204030204"/>
              </a:rPr>
              <a:t>COMPUTER</a:t>
            </a:r>
            <a:r>
              <a:rPr sz="1800" spc="-30" dirty="0">
                <a:latin typeface="Calibri" panose="020F0502020204030204"/>
                <a:cs typeface="Calibri" panose="020F0502020204030204"/>
              </a:rPr>
              <a:t> </a:t>
            </a:r>
            <a:r>
              <a:rPr sz="1800" spc="-10" dirty="0">
                <a:latin typeface="Calibri" panose="020F0502020204030204"/>
                <a:cs typeface="Calibri" panose="020F0502020204030204"/>
              </a:rPr>
              <a:t>ENGINEERING</a:t>
            </a:r>
            <a:endParaRPr sz="1800" dirty="0">
              <a:latin typeface="Calibri" panose="020F0502020204030204"/>
              <a:cs typeface="Calibri" panose="020F0502020204030204"/>
            </a:endParaRPr>
          </a:p>
        </p:txBody>
      </p:sp>
      <p:sp>
        <p:nvSpPr>
          <p:cNvPr id="9" name="TextBox 8"/>
          <p:cNvSpPr txBox="1"/>
          <p:nvPr/>
        </p:nvSpPr>
        <p:spPr>
          <a:xfrm>
            <a:off x="408305" y="1894840"/>
            <a:ext cx="11356975" cy="3599815"/>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Required</a:t>
            </a:r>
            <a:r>
              <a:rPr lang="en-IN" sz="2800" b="1" spc="-12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Tools</a:t>
            </a:r>
            <a:r>
              <a:rPr lang="en-IN" sz="2800" b="1" spc="-12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and</a:t>
            </a:r>
            <a:r>
              <a:rPr lang="en-IN" sz="2800" b="1" spc="-120" dirty="0">
                <a:latin typeface="Times New Roman" panose="02020603050405020304" pitchFamily="18" charset="0"/>
                <a:cs typeface="Times New Roman" panose="02020603050405020304" pitchFamily="18" charset="0"/>
              </a:rPr>
              <a:t> </a:t>
            </a:r>
            <a:r>
              <a:rPr lang="en-IN" sz="2800" b="1" spc="-10" dirty="0">
                <a:latin typeface="Times New Roman" panose="02020603050405020304" pitchFamily="18" charset="0"/>
                <a:cs typeface="Times New Roman" panose="02020603050405020304" pitchFamily="18" charset="0"/>
              </a:rPr>
              <a:t>Technology</a:t>
            </a:r>
          </a:p>
          <a:p>
            <a:pPr algn="just"/>
            <a:endParaRPr lang="en-IN" sz="32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Frontend                Backend                   Database         AI Integration</a:t>
            </a:r>
          </a:p>
          <a:p>
            <a:pPr lvl="0" algn="just"/>
            <a:r>
              <a:rPr lang="en-IN" sz="2400" dirty="0">
                <a:latin typeface="Times New Roman" panose="02020603050405020304" pitchFamily="18" charset="0"/>
                <a:cs typeface="Times New Roman" panose="02020603050405020304" pitchFamily="18" charset="0"/>
              </a:rPr>
              <a:t>Next.js 15               </a:t>
            </a:r>
            <a:r>
              <a:rPr lang="en-IN" sz="2400" dirty="0" err="1">
                <a:latin typeface="Times New Roman" panose="02020603050405020304" pitchFamily="18" charset="0"/>
                <a:cs typeface="Times New Roman" panose="02020603050405020304" pitchFamily="18" charset="0"/>
              </a:rPr>
              <a:t>FastAPI</a:t>
            </a:r>
            <a:r>
              <a:rPr lang="en-IN" sz="2400" dirty="0">
                <a:latin typeface="Times New Roman" panose="02020603050405020304" pitchFamily="18" charset="0"/>
                <a:cs typeface="Times New Roman" panose="02020603050405020304" pitchFamily="18" charset="0"/>
              </a:rPr>
              <a:t>                     MongoDB        Google Gemini API </a:t>
            </a:r>
          </a:p>
          <a:p>
            <a:pPr algn="just"/>
            <a:r>
              <a:rPr lang="en-IN" sz="2400" dirty="0">
                <a:latin typeface="Times New Roman" panose="02020603050405020304" pitchFamily="18" charset="0"/>
                <a:cs typeface="Times New Roman" panose="02020603050405020304" pitchFamily="18" charset="0"/>
              </a:rPr>
              <a:t>React.js                   Python                                                Google Generative AI SDK</a:t>
            </a:r>
          </a:p>
          <a:p>
            <a:pPr lvl="0" algn="just"/>
            <a:r>
              <a:rPr lang="en-IN" sz="2400" dirty="0">
                <a:latin typeface="Times New Roman" panose="02020603050405020304" pitchFamily="18" charset="0"/>
                <a:cs typeface="Times New Roman" panose="02020603050405020304" pitchFamily="18" charset="0"/>
              </a:rPr>
              <a:t>TypeScript              </a:t>
            </a:r>
            <a:r>
              <a:rPr lang="en-IN" sz="2400" dirty="0" err="1">
                <a:latin typeface="Times New Roman" panose="02020603050405020304" pitchFamily="18" charset="0"/>
                <a:cs typeface="Times New Roman" panose="02020603050405020304" pitchFamily="18" charset="0"/>
              </a:rPr>
              <a:t>Uvicorn</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Tailwind CSS          </a:t>
            </a:r>
            <a:r>
              <a:rPr lang="en-IN" sz="2400" dirty="0" err="1">
                <a:latin typeface="Times New Roman" panose="02020603050405020304" pitchFamily="18" charset="0"/>
                <a:cs typeface="Times New Roman" panose="02020603050405020304" pitchFamily="18" charset="0"/>
              </a:rPr>
              <a:t>Pydantic</a:t>
            </a:r>
            <a:r>
              <a:rPr lang="en-IN" sz="2400" dirty="0">
                <a:latin typeface="Times New Roman" panose="02020603050405020304" pitchFamily="18" charset="0"/>
                <a:cs typeface="Times New Roman" panose="02020603050405020304" pitchFamily="18" charset="0"/>
              </a:rPr>
              <a:t> </a:t>
            </a:r>
          </a:p>
          <a:p>
            <a:pPr lvl="0" algn="just"/>
            <a:r>
              <a:rPr lang="en-IN" sz="2400" dirty="0" err="1">
                <a:latin typeface="Times New Roman" panose="02020603050405020304" pitchFamily="18" charset="0"/>
                <a:cs typeface="Times New Roman" panose="02020603050405020304" pitchFamily="18" charset="0"/>
              </a:rPr>
              <a:t>shadcn</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ui</a:t>
            </a:r>
            <a:r>
              <a:rPr lang="en-IN" sz="2400" dirty="0">
                <a:latin typeface="Times New Roman" panose="02020603050405020304" pitchFamily="18" charset="0"/>
                <a:cs typeface="Times New Roman" panose="02020603050405020304" pitchFamily="18" charset="0"/>
              </a:rPr>
              <a:t>                 JWT Authentication</a:t>
            </a:r>
            <a:endParaRPr lang="en-IN" sz="2400" b="1" dirty="0">
              <a:latin typeface="Times New Roman" panose="02020603050405020304" pitchFamily="18" charset="0"/>
              <a:cs typeface="Times New Roman" panose="02020603050405020304" pitchFamily="18" charset="0"/>
            </a:endParaRPr>
          </a:p>
          <a:p>
            <a:pPr lvl="0"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513205" algn="just">
              <a:lnSpc>
                <a:spcPct val="100000"/>
              </a:lnSpc>
              <a:spcBef>
                <a:spcPts val="100"/>
              </a:spcBef>
            </a:pPr>
            <a:r>
              <a:rPr dirty="0">
                <a:latin typeface="Times New Roman" panose="02020603050405020304" pitchFamily="18" charset="0"/>
                <a:cs typeface="Times New Roman" panose="02020603050405020304" pitchFamily="18" charset="0"/>
              </a:rPr>
              <a:t>Method/</a:t>
            </a:r>
            <a:r>
              <a:rPr spc="-204"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Approach</a:t>
            </a:r>
          </a:p>
        </p:txBody>
      </p:sp>
      <p:sp>
        <p:nvSpPr>
          <p:cNvPr id="4" name="object 4"/>
          <p:cNvSpPr txBox="1">
            <a:spLocks noGrp="1"/>
          </p:cNvSpPr>
          <p:nvPr>
            <p:ph type="ftr" sz="quarter" idx="5"/>
          </p:nvPr>
        </p:nvSpPr>
        <p:spPr>
          <a:xfrm>
            <a:off x="3810000" y="6522737"/>
            <a:ext cx="4923790" cy="243656"/>
          </a:xfrm>
          <a:prstGeom prst="rect">
            <a:avLst/>
          </a:prstGeom>
        </p:spPr>
        <p:txBody>
          <a:bodyPr vert="horz" wrap="square" lIns="0" tIns="0" rIns="0" bIns="0" rtlCol="0">
            <a:spAutoFit/>
          </a:bodyPr>
          <a:lstStyle/>
          <a:p>
            <a:pPr algn="just">
              <a:lnSpc>
                <a:spcPts val="1860"/>
              </a:lnSpc>
            </a:pPr>
            <a:r>
              <a:rPr dirty="0"/>
              <a:t>DEPARTMENT</a:t>
            </a:r>
            <a:r>
              <a:rPr spc="-45" dirty="0"/>
              <a:t> </a:t>
            </a:r>
            <a:r>
              <a:rPr dirty="0"/>
              <a:t>OF</a:t>
            </a:r>
            <a:r>
              <a:rPr spc="-35" dirty="0"/>
              <a:t> </a:t>
            </a:r>
            <a:r>
              <a:rPr dirty="0"/>
              <a:t>COMPUTER</a:t>
            </a:r>
            <a:r>
              <a:rPr spc="-30" dirty="0"/>
              <a:t> </a:t>
            </a:r>
            <a:r>
              <a:rPr spc="-10" dirty="0"/>
              <a:t>ENGINEERING</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gn="just">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gn="just">
              <a:lnSpc>
                <a:spcPts val="1240"/>
              </a:lnSpc>
            </a:pPr>
            <a:fld id="{81D60167-4931-47E6-BA6A-407CBD079E47}" type="slidenum">
              <a:rPr spc="-25" dirty="0"/>
              <a:t>12</a:t>
            </a:fld>
            <a:endParaRPr spc="-25" dirty="0"/>
          </a:p>
        </p:txBody>
      </p:sp>
      <p:sp>
        <p:nvSpPr>
          <p:cNvPr id="3" name="object 3"/>
          <p:cNvSpPr txBox="1">
            <a:spLocks noGrp="1"/>
          </p:cNvSpPr>
          <p:nvPr>
            <p:ph type="body" idx="1"/>
          </p:nvPr>
        </p:nvSpPr>
        <p:spPr>
          <a:xfrm>
            <a:off x="533400" y="1524000"/>
            <a:ext cx="10967085" cy="4006215"/>
          </a:xfrm>
          <a:prstGeom prst="rect">
            <a:avLst/>
          </a:prstGeom>
        </p:spPr>
        <p:txBody>
          <a:bodyPr vert="horz" wrap="square" lIns="0" tIns="12700" rIns="0" bIns="0" rtlCol="0">
            <a:spAutoFit/>
          </a:bodyPr>
          <a:lstStyle/>
          <a:p>
            <a:pPr marL="12065" marR="5080" algn="just">
              <a:lnSpc>
                <a:spcPct val="100000"/>
              </a:lnSpc>
              <a:spcBef>
                <a:spcPts val="100"/>
              </a:spcBef>
              <a:tabLst>
                <a:tab pos="332105" algn="l"/>
              </a:tabLst>
            </a:pPr>
            <a:r>
              <a:rPr lang="en-IN" sz="2800"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a:p>
            <a:pPr marL="12065" marR="5080" algn="just">
              <a:lnSpc>
                <a:spcPct val="100000"/>
              </a:lnSpc>
              <a:spcBef>
                <a:spcPts val="100"/>
              </a:spcBef>
              <a:tabLst>
                <a:tab pos="332105" algn="l"/>
              </a:tabLst>
            </a:pPr>
            <a:endParaRPr lang="en-IN" b="1" dirty="0">
              <a:latin typeface="Times New Roman" panose="02020603050405020304" pitchFamily="18" charset="0"/>
              <a:cs typeface="Times New Roman" panose="02020603050405020304" pitchFamily="18" charset="0"/>
            </a:endParaRP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1.Upload document or video </a:t>
            </a: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2.Content extraction from files </a:t>
            </a: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3.Text processing and cleaning </a:t>
            </a: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4.Embedding generation for semantic representation </a:t>
            </a: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5.Store embeddings in vector database </a:t>
            </a: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6.Semantic indexing for retrieval </a:t>
            </a: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7.AI retrieval using Retrieval Augmented Generation (RAG) </a:t>
            </a:r>
          </a:p>
          <a:p>
            <a:pPr marL="12065" marR="5080" algn="just">
              <a:lnSpc>
                <a:spcPct val="100000"/>
              </a:lnSpc>
              <a:spcBef>
                <a:spcPts val="100"/>
              </a:spcBef>
              <a:tabLst>
                <a:tab pos="332105" algn="l"/>
              </a:tabLst>
            </a:pPr>
            <a:r>
              <a:rPr lang="en-IN" sz="2400" dirty="0">
                <a:latin typeface="Times New Roman" panose="02020603050405020304" pitchFamily="18" charset="0"/>
                <a:cs typeface="Times New Roman" panose="02020603050405020304" pitchFamily="18" charset="0"/>
              </a:rPr>
              <a:t>8.Response generation with accurate </a:t>
            </a:r>
            <a:endParaRPr sz="2400" spc="-2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547" y="228790"/>
            <a:ext cx="7579864" cy="676910"/>
          </a:xfrm>
        </p:spPr>
        <p:txBody>
          <a:bodyPr/>
          <a:lstStyle/>
          <a:p>
            <a:pPr algn="ctr"/>
            <a:r>
              <a:rPr lang="en-IN" altLang="en-US" dirty="0">
                <a:latin typeface="Times New Roman" panose="02020603050405020304" pitchFamily="18" charset="0"/>
                <a:cs typeface="Times New Roman" panose="02020603050405020304" pitchFamily="18" charset="0"/>
              </a:rPr>
              <a:t>System Architecture</a:t>
            </a:r>
          </a:p>
        </p:txBody>
      </p:sp>
      <p:pic>
        <p:nvPicPr>
          <p:cNvPr id="10" name="Picture 9">
            <a:extLst>
              <a:ext uri="{FF2B5EF4-FFF2-40B4-BE49-F238E27FC236}">
                <a16:creationId xmlns:a16="http://schemas.microsoft.com/office/drawing/2014/main" id="{DEA70E71-08D4-EFB7-EB49-5DB115005392}"/>
              </a:ext>
            </a:extLst>
          </p:cNvPr>
          <p:cNvPicPr>
            <a:picLocks noChangeAspect="1"/>
          </p:cNvPicPr>
          <p:nvPr/>
        </p:nvPicPr>
        <p:blipFill>
          <a:blip r:embed="rId2"/>
          <a:stretch>
            <a:fillRect/>
          </a:stretch>
        </p:blipFill>
        <p:spPr>
          <a:xfrm>
            <a:off x="1143000" y="1066800"/>
            <a:ext cx="10287000" cy="5037900"/>
          </a:xfrm>
          <a:prstGeom prst="rect">
            <a:avLst/>
          </a:prstGeom>
        </p:spPr>
      </p:pic>
      <p:sp>
        <p:nvSpPr>
          <p:cNvPr id="12" name="TextBox 11">
            <a:extLst>
              <a:ext uri="{FF2B5EF4-FFF2-40B4-BE49-F238E27FC236}">
                <a16:creationId xmlns:a16="http://schemas.microsoft.com/office/drawing/2014/main" id="{117BA78A-DF5D-0BAC-1754-495F39FCD7AC}"/>
              </a:ext>
            </a:extLst>
          </p:cNvPr>
          <p:cNvSpPr txBox="1"/>
          <p:nvPr/>
        </p:nvSpPr>
        <p:spPr>
          <a:xfrm>
            <a:off x="3124200" y="6293411"/>
            <a:ext cx="6096000" cy="335989"/>
          </a:xfrm>
          <a:prstGeom prst="rect">
            <a:avLst/>
          </a:prstGeom>
          <a:noFill/>
        </p:spPr>
        <p:txBody>
          <a:bodyPr wrap="square">
            <a:spAutoFit/>
          </a:bodyPr>
          <a:lstStyle/>
          <a:p>
            <a:pPr algn="just">
              <a:lnSpc>
                <a:spcPts val="1860"/>
              </a:lnSpc>
            </a:pPr>
            <a:r>
              <a:rPr lang="en-IN" sz="1800" dirty="0">
                <a:latin typeface="Cambria" panose="02040503050406030204" pitchFamily="18" charset="0"/>
                <a:ea typeface="Cambria" panose="02040503050406030204" pitchFamily="18" charset="0"/>
              </a:rPr>
              <a:t>DEPARTMENT</a:t>
            </a:r>
            <a:r>
              <a:rPr lang="en-IN" sz="1800" spc="-45" dirty="0">
                <a:latin typeface="Cambria" panose="02040503050406030204" pitchFamily="18" charset="0"/>
                <a:ea typeface="Cambria" panose="02040503050406030204" pitchFamily="18" charset="0"/>
              </a:rPr>
              <a:t> </a:t>
            </a:r>
            <a:r>
              <a:rPr lang="en-IN" sz="1800" dirty="0">
                <a:latin typeface="Cambria" panose="02040503050406030204" pitchFamily="18" charset="0"/>
                <a:ea typeface="Cambria" panose="02040503050406030204" pitchFamily="18" charset="0"/>
              </a:rPr>
              <a:t>OF</a:t>
            </a:r>
            <a:r>
              <a:rPr lang="en-IN" sz="1800" spc="-35" dirty="0">
                <a:latin typeface="Cambria" panose="02040503050406030204" pitchFamily="18" charset="0"/>
                <a:ea typeface="Cambria" panose="02040503050406030204" pitchFamily="18" charset="0"/>
              </a:rPr>
              <a:t> </a:t>
            </a:r>
            <a:r>
              <a:rPr lang="en-IN" sz="1800" dirty="0">
                <a:latin typeface="Cambria" panose="02040503050406030204" pitchFamily="18" charset="0"/>
                <a:ea typeface="Cambria" panose="02040503050406030204" pitchFamily="18" charset="0"/>
              </a:rPr>
              <a:t>COMPUTER</a:t>
            </a:r>
            <a:r>
              <a:rPr lang="en-IN" sz="1800" spc="-30" dirty="0">
                <a:latin typeface="Cambria" panose="02040503050406030204" pitchFamily="18" charset="0"/>
                <a:ea typeface="Cambria" panose="02040503050406030204" pitchFamily="18" charset="0"/>
              </a:rPr>
              <a:t> </a:t>
            </a:r>
            <a:r>
              <a:rPr lang="en-IN" sz="1800" spc="-10" dirty="0">
                <a:latin typeface="Cambria" panose="02040503050406030204" pitchFamily="18" charset="0"/>
                <a:ea typeface="Cambria" panose="02040503050406030204" pitchFamily="18" charset="0"/>
              </a:rPr>
              <a:t>ENGINEERING</a:t>
            </a:r>
          </a:p>
        </p:txBody>
      </p:sp>
      <p:sp>
        <p:nvSpPr>
          <p:cNvPr id="16" name="TextBox 15">
            <a:extLst>
              <a:ext uri="{FF2B5EF4-FFF2-40B4-BE49-F238E27FC236}">
                <a16:creationId xmlns:a16="http://schemas.microsoft.com/office/drawing/2014/main" id="{CD53ED36-7C36-D66D-9F7E-F0EEE73EAACF}"/>
              </a:ext>
            </a:extLst>
          </p:cNvPr>
          <p:cNvSpPr txBox="1"/>
          <p:nvPr/>
        </p:nvSpPr>
        <p:spPr>
          <a:xfrm>
            <a:off x="609600" y="6338294"/>
            <a:ext cx="1066800" cy="246221"/>
          </a:xfrm>
          <a:prstGeom prst="rect">
            <a:avLst/>
          </a:prstGeom>
          <a:noFill/>
        </p:spPr>
        <p:txBody>
          <a:bodyPr wrap="square">
            <a:spAutoFit/>
          </a:bodyPr>
          <a:lstStyle/>
          <a:p>
            <a:pPr marL="12700" algn="just">
              <a:lnSpc>
                <a:spcPts val="1240"/>
              </a:lnSpc>
            </a:pPr>
            <a:r>
              <a:rPr lang="en-IN" sz="1200" spc="-20" dirty="0">
                <a:solidFill>
                  <a:schemeClr val="bg1">
                    <a:lumMod val="65000"/>
                  </a:schemeClr>
                </a:solidFill>
                <a:latin typeface="+mj-lt"/>
              </a:rPr>
              <a:t>10-09-2025</a:t>
            </a:r>
          </a:p>
        </p:txBody>
      </p:sp>
      <p:sp>
        <p:nvSpPr>
          <p:cNvPr id="18" name="TextBox 17">
            <a:extLst>
              <a:ext uri="{FF2B5EF4-FFF2-40B4-BE49-F238E27FC236}">
                <a16:creationId xmlns:a16="http://schemas.microsoft.com/office/drawing/2014/main" id="{2FDBE07C-AA10-1C8C-45A1-82CB0DE2CB0F}"/>
              </a:ext>
            </a:extLst>
          </p:cNvPr>
          <p:cNvSpPr txBox="1"/>
          <p:nvPr/>
        </p:nvSpPr>
        <p:spPr>
          <a:xfrm>
            <a:off x="10591800" y="6172200"/>
            <a:ext cx="609600" cy="246221"/>
          </a:xfrm>
          <a:prstGeom prst="rect">
            <a:avLst/>
          </a:prstGeom>
          <a:noFill/>
        </p:spPr>
        <p:txBody>
          <a:bodyPr wrap="square">
            <a:spAutoFit/>
          </a:bodyPr>
          <a:lstStyle/>
          <a:p>
            <a:pPr marL="12700" algn="r">
              <a:lnSpc>
                <a:spcPts val="1240"/>
              </a:lnSpc>
            </a:pPr>
            <a:fld id="{81D60167-4931-47E6-BA6A-407CBD079E47}" type="slidenum">
              <a:rPr lang="en-IN" sz="1200" spc="-25" smtClean="0">
                <a:solidFill>
                  <a:schemeClr val="bg1">
                    <a:lumMod val="65000"/>
                  </a:schemeClr>
                </a:solidFill>
                <a:latin typeface="+mj-lt"/>
              </a:rPr>
              <a:pPr marL="12700" algn="r">
                <a:lnSpc>
                  <a:spcPts val="1240"/>
                </a:lnSpc>
              </a:pPr>
              <a:t>13</a:t>
            </a:fld>
            <a:endParaRPr lang="en-IN" sz="1200" spc="-25" dirty="0">
              <a:solidFill>
                <a:schemeClr val="bg1">
                  <a:lumMod val="65000"/>
                </a:schemeClr>
              </a:solidFill>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9E5FE-0224-EBDE-6426-8374E9151556}"/>
              </a:ext>
            </a:extLst>
          </p:cNvPr>
          <p:cNvSpPr>
            <a:spLocks noGrp="1"/>
          </p:cNvSpPr>
          <p:nvPr>
            <p:ph type="title"/>
          </p:nvPr>
        </p:nvSpPr>
        <p:spPr/>
        <p:txBody>
          <a:bodyPr/>
          <a:lstStyle/>
          <a:p>
            <a:pPr algn="just"/>
            <a:r>
              <a:rPr lang="en-IN" dirty="0"/>
              <a:t>                      </a:t>
            </a:r>
            <a:r>
              <a:rPr lang="en-IN"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E6BA3C89-5405-FCFC-55BF-C02567046CD6}"/>
              </a:ext>
            </a:extLst>
          </p:cNvPr>
          <p:cNvPicPr>
            <a:picLocks noChangeAspect="1"/>
          </p:cNvPicPr>
          <p:nvPr/>
        </p:nvPicPr>
        <p:blipFill>
          <a:blip r:embed="rId2"/>
          <a:stretch>
            <a:fillRect/>
          </a:stretch>
        </p:blipFill>
        <p:spPr>
          <a:xfrm>
            <a:off x="1371600" y="2133600"/>
            <a:ext cx="9753600" cy="4419600"/>
          </a:xfrm>
          <a:prstGeom prst="rect">
            <a:avLst/>
          </a:prstGeom>
        </p:spPr>
      </p:pic>
      <p:sp>
        <p:nvSpPr>
          <p:cNvPr id="7" name="TextBox 6">
            <a:extLst>
              <a:ext uri="{FF2B5EF4-FFF2-40B4-BE49-F238E27FC236}">
                <a16:creationId xmlns:a16="http://schemas.microsoft.com/office/drawing/2014/main" id="{72476A3B-E362-2888-79EB-5F54EF5888A5}"/>
              </a:ext>
            </a:extLst>
          </p:cNvPr>
          <p:cNvSpPr txBox="1"/>
          <p:nvPr/>
        </p:nvSpPr>
        <p:spPr>
          <a:xfrm>
            <a:off x="1600200" y="1478177"/>
            <a:ext cx="20574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Register page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8459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ADEE-CC09-F949-B1F5-3AD524C7FAED}"/>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Result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A89C670-2932-0325-BC8B-034BED3D85E1}"/>
              </a:ext>
            </a:extLst>
          </p:cNvPr>
          <p:cNvSpPr>
            <a:spLocks noGrp="1"/>
          </p:cNvSpPr>
          <p:nvPr>
            <p:ph type="body" idx="1"/>
          </p:nvPr>
        </p:nvSpPr>
        <p:spPr>
          <a:xfrm>
            <a:off x="775334" y="1390555"/>
            <a:ext cx="10641330" cy="492443"/>
          </a:xfrm>
        </p:spPr>
        <p:txBody>
          <a:bodyPr/>
          <a:lstStyle/>
          <a:p>
            <a:r>
              <a:rPr lang="en-US" dirty="0"/>
              <a:t>Login page</a:t>
            </a:r>
            <a:endParaRPr lang="en-IN" dirty="0"/>
          </a:p>
        </p:txBody>
      </p:sp>
      <p:pic>
        <p:nvPicPr>
          <p:cNvPr id="5" name="Picture 4">
            <a:extLst>
              <a:ext uri="{FF2B5EF4-FFF2-40B4-BE49-F238E27FC236}">
                <a16:creationId xmlns:a16="http://schemas.microsoft.com/office/drawing/2014/main" id="{05A7D479-89F0-5E35-FC76-F953D4714429}"/>
              </a:ext>
            </a:extLst>
          </p:cNvPr>
          <p:cNvPicPr>
            <a:picLocks noChangeAspect="1"/>
          </p:cNvPicPr>
          <p:nvPr/>
        </p:nvPicPr>
        <p:blipFill>
          <a:blip r:embed="rId2"/>
          <a:stretch>
            <a:fillRect/>
          </a:stretch>
        </p:blipFill>
        <p:spPr>
          <a:xfrm>
            <a:off x="1550670" y="2030132"/>
            <a:ext cx="8335261" cy="4446868"/>
          </a:xfrm>
          <a:prstGeom prst="rect">
            <a:avLst/>
          </a:prstGeom>
        </p:spPr>
      </p:pic>
    </p:spTree>
    <p:extLst>
      <p:ext uri="{BB962C8B-B14F-4D97-AF65-F5344CB8AC3E}">
        <p14:creationId xmlns:p14="http://schemas.microsoft.com/office/powerpoint/2010/main" val="2881032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0A79F-F5AE-860C-1D9B-91CE7FF2D2EB}"/>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Result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4435CCA-59C5-4373-9115-05139796D559}"/>
              </a:ext>
            </a:extLst>
          </p:cNvPr>
          <p:cNvSpPr>
            <a:spLocks noGrp="1"/>
          </p:cNvSpPr>
          <p:nvPr>
            <p:ph type="body" idx="1"/>
          </p:nvPr>
        </p:nvSpPr>
        <p:spPr>
          <a:xfrm>
            <a:off x="775334" y="1447800"/>
            <a:ext cx="10641330" cy="492443"/>
          </a:xfrm>
        </p:spPr>
        <p:txBody>
          <a:bodyPr/>
          <a:lstStyle/>
          <a:p>
            <a:r>
              <a:rPr lang="en-US" dirty="0"/>
              <a:t>Dashboard</a:t>
            </a:r>
          </a:p>
        </p:txBody>
      </p:sp>
      <p:pic>
        <p:nvPicPr>
          <p:cNvPr id="5" name="Picture 4">
            <a:extLst>
              <a:ext uri="{FF2B5EF4-FFF2-40B4-BE49-F238E27FC236}">
                <a16:creationId xmlns:a16="http://schemas.microsoft.com/office/drawing/2014/main" id="{E733BB89-2570-7640-E555-21EC671D6E74}"/>
              </a:ext>
            </a:extLst>
          </p:cNvPr>
          <p:cNvPicPr>
            <a:picLocks noChangeAspect="1"/>
          </p:cNvPicPr>
          <p:nvPr/>
        </p:nvPicPr>
        <p:blipFill>
          <a:blip r:embed="rId2"/>
          <a:stretch>
            <a:fillRect/>
          </a:stretch>
        </p:blipFill>
        <p:spPr>
          <a:xfrm>
            <a:off x="1600200" y="1940243"/>
            <a:ext cx="8742931" cy="4722785"/>
          </a:xfrm>
          <a:prstGeom prst="rect">
            <a:avLst/>
          </a:prstGeom>
        </p:spPr>
      </p:pic>
    </p:spTree>
    <p:extLst>
      <p:ext uri="{BB962C8B-B14F-4D97-AF65-F5344CB8AC3E}">
        <p14:creationId xmlns:p14="http://schemas.microsoft.com/office/powerpoint/2010/main" val="2538488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BBB81-F708-591A-05A2-CF6DB849C94E}"/>
              </a:ext>
            </a:extLst>
          </p:cNvPr>
          <p:cNvSpPr>
            <a:spLocks noGrp="1"/>
          </p:cNvSpPr>
          <p:nvPr>
            <p:ph type="title"/>
          </p:nvPr>
        </p:nvSpPr>
        <p:spPr>
          <a:xfrm>
            <a:off x="2306067" y="475805"/>
            <a:ext cx="7579864" cy="677108"/>
          </a:xfrm>
        </p:spPr>
        <p:txBody>
          <a:bodyPr/>
          <a:lstStyle/>
          <a:p>
            <a:pPr algn="ctr"/>
            <a:r>
              <a:rPr lang="en-IN" dirty="0">
                <a:latin typeface="Times New Roman" panose="02020603050405020304" pitchFamily="18" charset="0"/>
                <a:cs typeface="Times New Roman" panose="02020603050405020304" pitchFamily="18" charset="0"/>
              </a:rPr>
              <a:t>Future work /Scope</a:t>
            </a:r>
          </a:p>
        </p:txBody>
      </p:sp>
      <p:sp>
        <p:nvSpPr>
          <p:cNvPr id="3" name="Text Placeholder 2">
            <a:extLst>
              <a:ext uri="{FF2B5EF4-FFF2-40B4-BE49-F238E27FC236}">
                <a16:creationId xmlns:a16="http://schemas.microsoft.com/office/drawing/2014/main" id="{9CA255B1-055A-C2F1-A41B-A4B8486E46E0}"/>
              </a:ext>
            </a:extLst>
          </p:cNvPr>
          <p:cNvSpPr>
            <a:spLocks noGrp="1"/>
          </p:cNvSpPr>
          <p:nvPr>
            <p:ph type="body" idx="1"/>
          </p:nvPr>
        </p:nvSpPr>
        <p:spPr>
          <a:xfrm>
            <a:off x="705687" y="1609345"/>
            <a:ext cx="10641330" cy="5170646"/>
          </a:xfrm>
        </p:spPr>
        <p:txBody>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 document version tracking so users can compare </a:t>
            </a:r>
            <a:r>
              <a:rPr lang="en-US" sz="2800" dirty="0" err="1">
                <a:latin typeface="Times New Roman" panose="02020603050405020304" pitchFamily="18" charset="0"/>
                <a:cs typeface="Times New Roman" panose="02020603050405020304" pitchFamily="18" charset="0"/>
              </a:rPr>
              <a:t>updatedresources</a:t>
            </a:r>
            <a:r>
              <a:rPr lang="en-US" sz="28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Add resource-level permissions for shared </a:t>
            </a:r>
            <a:r>
              <a:rPr lang="en-US" sz="2800" dirty="0" err="1">
                <a:latin typeface="Times New Roman" panose="02020603050405020304" pitchFamily="18" charset="0"/>
                <a:cs typeface="Times New Roman" panose="02020603050405020304" pitchFamily="18" charset="0"/>
              </a:rPr>
              <a:t>organizationalnotebooks</a:t>
            </a:r>
            <a:r>
              <a:rPr lang="en-US" sz="28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Introduce richer source references in the chat interface so </a:t>
            </a:r>
            <a:r>
              <a:rPr lang="en-US" sz="2800" dirty="0" err="1">
                <a:latin typeface="Times New Roman" panose="02020603050405020304" pitchFamily="18" charset="0"/>
                <a:cs typeface="Times New Roman" panose="02020603050405020304" pitchFamily="18" charset="0"/>
              </a:rPr>
              <a:t>userscan</a:t>
            </a:r>
            <a:r>
              <a:rPr lang="en-US" sz="2800" dirty="0">
                <a:latin typeface="Times New Roman" panose="02020603050405020304" pitchFamily="18" charset="0"/>
                <a:cs typeface="Times New Roman" panose="02020603050405020304" pitchFamily="18" charset="0"/>
              </a:rPr>
              <a:t> quickly inspect the original material.</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 multilingual interaction for regional and </a:t>
            </a:r>
            <a:r>
              <a:rPr lang="en-US" sz="2800" dirty="0" err="1">
                <a:latin typeface="Times New Roman" panose="02020603050405020304" pitchFamily="18" charset="0"/>
                <a:cs typeface="Times New Roman" panose="02020603050405020304" pitchFamily="18" charset="0"/>
              </a:rPr>
              <a:t>internationaleducational</a:t>
            </a:r>
            <a:r>
              <a:rPr lang="en-US" sz="2800" dirty="0">
                <a:latin typeface="Times New Roman" panose="02020603050405020304" pitchFamily="18" charset="0"/>
                <a:cs typeface="Times New Roman" panose="02020603050405020304" pitchFamily="18" charset="0"/>
              </a:rPr>
              <a:t> use.</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 export of summaries, quizzes, and flashcards </a:t>
            </a:r>
            <a:r>
              <a:rPr lang="en-US" sz="2800" dirty="0" err="1">
                <a:latin typeface="Times New Roman" panose="02020603050405020304" pitchFamily="18" charset="0"/>
                <a:cs typeface="Times New Roman" panose="02020603050405020304" pitchFamily="18" charset="0"/>
              </a:rPr>
              <a:t>intoprintable</a:t>
            </a:r>
            <a:r>
              <a:rPr lang="en-US" sz="2800" dirty="0">
                <a:latin typeface="Times New Roman" panose="02020603050405020304" pitchFamily="18" charset="0"/>
                <a:cs typeface="Times New Roman" panose="02020603050405020304" pitchFamily="18" charset="0"/>
              </a:rPr>
              <a:t> study formats.</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 analytics showing which notebooks and learning </a:t>
            </a:r>
            <a:r>
              <a:rPr lang="en-US" sz="2800" dirty="0" err="1">
                <a:latin typeface="Times New Roman" panose="02020603050405020304" pitchFamily="18" charset="0"/>
                <a:cs typeface="Times New Roman" panose="02020603050405020304" pitchFamily="18" charset="0"/>
              </a:rPr>
              <a:t>activitiesare</a:t>
            </a:r>
            <a:r>
              <a:rPr lang="en-US" sz="2800" dirty="0">
                <a:latin typeface="Times New Roman" panose="02020603050405020304" pitchFamily="18" charset="0"/>
                <a:cs typeface="Times New Roman" panose="02020603050405020304" pitchFamily="18" charset="0"/>
              </a:rPr>
              <a:t> used most often.</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 automated regression tests for resource processing </a:t>
            </a:r>
            <a:r>
              <a:rPr lang="en-US" sz="2800" dirty="0" err="1">
                <a:latin typeface="Times New Roman" panose="02020603050405020304" pitchFamily="18" charset="0"/>
                <a:cs typeface="Times New Roman" panose="02020603050405020304" pitchFamily="18" charset="0"/>
              </a:rPr>
              <a:t>andchat</a:t>
            </a:r>
            <a:r>
              <a:rPr lang="en-US" sz="2800" dirty="0">
                <a:latin typeface="Times New Roman" panose="02020603050405020304" pitchFamily="18" charset="0"/>
                <a:cs typeface="Times New Roman" panose="02020603050405020304" pitchFamily="18" charset="0"/>
              </a:rPr>
              <a:t> workflows.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983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3F6A7-BAC7-B6B6-FF03-C9F9C6615556}"/>
              </a:ext>
            </a:extLst>
          </p:cNvPr>
          <p:cNvSpPr>
            <a:spLocks noGrp="1"/>
          </p:cNvSpPr>
          <p:nvPr>
            <p:ph type="title"/>
          </p:nvPr>
        </p:nvSpPr>
        <p:spPr>
          <a:xfrm>
            <a:off x="2306067" y="475805"/>
            <a:ext cx="7579864" cy="677108"/>
          </a:xfrm>
        </p:spPr>
        <p:txBody>
          <a:bodyPr/>
          <a:lstStyle/>
          <a:p>
            <a:pPr algn="ctr"/>
            <a:r>
              <a:rPr lang="en-IN"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A42F1D93-CB4D-6BB0-70C9-AD573F4BAC7A}"/>
              </a:ext>
            </a:extLst>
          </p:cNvPr>
          <p:cNvSpPr>
            <a:spLocks noGrp="1"/>
          </p:cNvSpPr>
          <p:nvPr>
            <p:ph type="body" idx="1"/>
          </p:nvPr>
        </p:nvSpPr>
        <p:spPr>
          <a:xfrm>
            <a:off x="705687" y="1609345"/>
            <a:ext cx="10641330" cy="3877985"/>
          </a:xfrm>
        </p:spPr>
        <p:txBody>
          <a:bodyPr/>
          <a:lstStyle/>
          <a:p>
            <a:pPr algn="just"/>
            <a:r>
              <a:rPr lang="en-US" sz="2800" dirty="0">
                <a:latin typeface="Times New Roman" panose="02020603050405020304" pitchFamily="18" charset="0"/>
                <a:cs typeface="Times New Roman" panose="02020603050405020304" pitchFamily="18" charset="0"/>
              </a:rPr>
              <a:t>This project introduces a Smart Knowledge Management System that centralizes scattered learning materials into a single interactive platform. By smoothly integrating the Gemini API and database storage into a practical workflow, it helps users actively learn from their resources rather than just storing them. As a straightforward academic prototype, it proves that AI works best when embedded directly into everyday tasks. Moving forward, future work will focus on real-world user testing, stronger privacy controls, better resource processing, and clearer source tracking to fully measure and expand the system's impact.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030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149860"/>
            <a:ext cx="4648200" cy="689932"/>
          </a:xfrm>
          <a:prstGeom prst="rect">
            <a:avLst/>
          </a:prstGeom>
        </p:spPr>
        <p:txBody>
          <a:bodyPr vert="horz" wrap="square" lIns="0" tIns="12700" rIns="0" bIns="0" rtlCol="0">
            <a:spAutoFit/>
          </a:bodyPr>
          <a:lstStyle/>
          <a:p>
            <a:pPr marL="2246630" algn="ctr">
              <a:lnSpc>
                <a:spcPct val="100000"/>
              </a:lnSpc>
              <a:spcBef>
                <a:spcPts val="100"/>
              </a:spcBef>
            </a:pPr>
            <a:r>
              <a:rPr lang="en-IN" b="1" spc="-10" dirty="0" err="1">
                <a:latin typeface="Times New Roman" panose="02020603050405020304" pitchFamily="18" charset="0"/>
                <a:cs typeface="Times New Roman" panose="02020603050405020304" pitchFamily="18" charset="0"/>
              </a:rPr>
              <a:t>Refrences</a:t>
            </a:r>
            <a:endParaRPr b="1"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ftr" sz="quarter" idx="5"/>
          </p:nvPr>
        </p:nvSpPr>
        <p:spPr>
          <a:xfrm>
            <a:off x="3634105" y="6470015"/>
            <a:ext cx="5525135" cy="238125"/>
          </a:xfrm>
          <a:prstGeom prst="rect">
            <a:avLst/>
          </a:prstGeom>
        </p:spPr>
        <p:txBody>
          <a:bodyPr vert="horz" wrap="square" lIns="0" tIns="0" rIns="0" bIns="0" rtlCol="0">
            <a:spAutoFit/>
          </a:bodyPr>
          <a:lstStyle/>
          <a:p>
            <a:pPr algn="just">
              <a:lnSpc>
                <a:spcPts val="1860"/>
              </a:lnSpc>
            </a:pPr>
            <a:r>
              <a:rPr dirty="0"/>
              <a:t>DEPARTMENT</a:t>
            </a:r>
            <a:r>
              <a:rPr spc="-45" dirty="0"/>
              <a:t> </a:t>
            </a:r>
            <a:r>
              <a:rPr dirty="0"/>
              <a:t>OF</a:t>
            </a:r>
            <a:r>
              <a:rPr spc="-35" dirty="0"/>
              <a:t> </a:t>
            </a:r>
            <a:r>
              <a:rPr dirty="0"/>
              <a:t>COMPUTER</a:t>
            </a:r>
            <a:r>
              <a:rPr spc="-30" dirty="0"/>
              <a:t> </a:t>
            </a:r>
            <a:r>
              <a:rPr spc="-10" dirty="0"/>
              <a:t>ENGINEERING</a:t>
            </a:r>
          </a:p>
        </p:txBody>
      </p:sp>
      <p:sp>
        <p:nvSpPr>
          <p:cNvPr id="5" name="object 5"/>
          <p:cNvSpPr txBox="1">
            <a:spLocks noGrp="1"/>
          </p:cNvSpPr>
          <p:nvPr>
            <p:ph type="dt" sz="half" idx="6"/>
          </p:nvPr>
        </p:nvSpPr>
        <p:spPr>
          <a:xfrm>
            <a:off x="682625" y="6466840"/>
            <a:ext cx="825500" cy="158750"/>
          </a:xfrm>
          <a:prstGeom prst="rect">
            <a:avLst/>
          </a:prstGeom>
        </p:spPr>
        <p:txBody>
          <a:bodyPr vert="horz" wrap="square" lIns="0" tIns="0" rIns="0" bIns="0" rtlCol="0">
            <a:spAutoFit/>
          </a:bodyPr>
          <a:lstStyle/>
          <a:p>
            <a:pPr marL="12700" algn="just">
              <a:lnSpc>
                <a:spcPts val="1240"/>
              </a:lnSpc>
            </a:pPr>
            <a:r>
              <a:rPr spc="-20" dirty="0"/>
              <a:t>10-09-2025</a:t>
            </a:r>
          </a:p>
        </p:txBody>
      </p:sp>
      <p:sp>
        <p:nvSpPr>
          <p:cNvPr id="6" name="object 6"/>
          <p:cNvSpPr txBox="1">
            <a:spLocks noGrp="1"/>
          </p:cNvSpPr>
          <p:nvPr>
            <p:ph type="sldNum" sz="quarter" idx="7"/>
          </p:nvPr>
        </p:nvSpPr>
        <p:spPr>
          <a:xfrm>
            <a:off x="11329670" y="6466840"/>
            <a:ext cx="245110" cy="158750"/>
          </a:xfrm>
          <a:prstGeom prst="rect">
            <a:avLst/>
          </a:prstGeom>
        </p:spPr>
        <p:txBody>
          <a:bodyPr vert="horz" wrap="square" lIns="0" tIns="0" rIns="0" bIns="0" rtlCol="0">
            <a:spAutoFit/>
          </a:bodyPr>
          <a:lstStyle/>
          <a:p>
            <a:pPr marL="12700" algn="just">
              <a:lnSpc>
                <a:spcPts val="1240"/>
              </a:lnSpc>
            </a:pPr>
            <a:fld id="{81D60167-4931-47E6-BA6A-407CBD079E47}" type="slidenum">
              <a:rPr spc="-25" dirty="0"/>
              <a:t>19</a:t>
            </a:fld>
            <a:endParaRPr spc="-25" dirty="0"/>
          </a:p>
        </p:txBody>
      </p:sp>
      <p:sp>
        <p:nvSpPr>
          <p:cNvPr id="3" name="object 3"/>
          <p:cNvSpPr txBox="1"/>
          <p:nvPr/>
        </p:nvSpPr>
        <p:spPr>
          <a:xfrm>
            <a:off x="506095" y="814392"/>
            <a:ext cx="11179810" cy="6381234"/>
          </a:xfrm>
          <a:prstGeom prst="rect">
            <a:avLst/>
          </a:prstGeom>
        </p:spPr>
        <p:txBody>
          <a:bodyPr vert="horz" wrap="square" lIns="0" tIns="12700" rIns="0" bIns="0" rtlCol="0">
            <a:spAutoFit/>
          </a:bodyPr>
          <a:lstStyle/>
          <a:p>
            <a:pPr marL="12065" marR="5080" indent="0" algn="just">
              <a:lnSpc>
                <a:spcPct val="100000"/>
              </a:lnSpc>
              <a:spcBef>
                <a:spcPts val="100"/>
              </a:spcBef>
              <a:buNone/>
              <a:tabLst>
                <a:tab pos="332105" algn="l"/>
              </a:tabLst>
            </a:pPr>
            <a:r>
              <a:rPr lang="en-IN" sz="2800" b="1" spc="-10" dirty="0" err="1">
                <a:latin typeface="Times New Roman" panose="02020603050405020304" pitchFamily="18" charset="0"/>
                <a:cs typeface="Times New Roman" panose="02020603050405020304" pitchFamily="18" charset="0"/>
              </a:rPr>
              <a:t>Refrences</a:t>
            </a:r>
            <a:endParaRPr lang="en-IN" sz="3200" b="1" spc="-10" dirty="0">
              <a:latin typeface="Times New Roman" panose="02020603050405020304" pitchFamily="18" charset="0"/>
              <a:cs typeface="Times New Roman" panose="02020603050405020304" pitchFamily="18" charset="0"/>
            </a:endParaRPr>
          </a:p>
          <a:p>
            <a:pPr marL="354965" marR="5080" indent="-342900" algn="just">
              <a:lnSpc>
                <a:spcPct val="100000"/>
              </a:lnSpc>
              <a:spcBef>
                <a:spcPts val="100"/>
              </a:spcBef>
              <a:buFont typeface="+mj-lt"/>
              <a:buAutoNum type="arabicPeriod"/>
              <a:tabLst>
                <a:tab pos="332105" algn="l"/>
              </a:tabLst>
            </a:pPr>
            <a:endParaRPr lang="en-IN" sz="2000" b="1" spc="-10" dirty="0">
              <a:latin typeface="Times New Roman" panose="02020603050405020304" pitchFamily="18" charset="0"/>
              <a:cs typeface="Times New Roman" panose="02020603050405020304" pitchFamily="18" charset="0"/>
            </a:endParaRPr>
          </a:p>
          <a:p>
            <a:pPr marL="354965" marR="5080" indent="-342900" algn="just">
              <a:lnSpc>
                <a:spcPct val="100000"/>
              </a:lnSpc>
              <a:spcBef>
                <a:spcPts val="100"/>
              </a:spcBef>
              <a:buFont typeface="+mj-lt"/>
              <a:buAutoNum type="arabicPeriod"/>
              <a:tabLst>
                <a:tab pos="332105" algn="l"/>
              </a:tabLst>
            </a:pPr>
            <a:r>
              <a:rPr lang="en-IN" sz="2400" b="1" spc="-10" dirty="0">
                <a:latin typeface="Times New Roman" panose="02020603050405020304" pitchFamily="18" charset="0"/>
                <a:cs typeface="Times New Roman" panose="02020603050405020304" pitchFamily="18" charset="0"/>
              </a:rPr>
              <a:t>Google. Gemini API / Google AI for Developer. Website: https://ai.google.dev</a:t>
            </a:r>
          </a:p>
          <a:p>
            <a:pPr marL="354965" marR="5080" indent="-342900" algn="just">
              <a:lnSpc>
                <a:spcPct val="100000"/>
              </a:lnSpc>
              <a:spcBef>
                <a:spcPts val="100"/>
              </a:spcBef>
              <a:buFont typeface="+mj-lt"/>
              <a:buAutoNum type="arabicPeriod"/>
              <a:tabLst>
                <a:tab pos="332105" algn="l"/>
              </a:tabLst>
            </a:pPr>
            <a:r>
              <a:rPr lang="en-US" sz="2400" b="1" spc="-10" dirty="0">
                <a:latin typeface="Times New Roman" panose="02020603050405020304" pitchFamily="18" charset="0"/>
                <a:cs typeface="Times New Roman" panose="02020603050405020304" pitchFamily="18" charset="0"/>
              </a:rPr>
              <a:t>Perplexity AI.</a:t>
            </a:r>
            <a:r>
              <a:rPr lang="en-IN" altLang="en-US" sz="2400" b="1" spc="-10" dirty="0">
                <a:latin typeface="Times New Roman" panose="02020603050405020304" pitchFamily="18" charset="0"/>
                <a:cs typeface="Times New Roman" panose="02020603050405020304" pitchFamily="18" charset="0"/>
              </a:rPr>
              <a:t> </a:t>
            </a:r>
            <a:r>
              <a:rPr lang="en-US" sz="2400" b="1" spc="-10" dirty="0">
                <a:latin typeface="Times New Roman" panose="02020603050405020304" pitchFamily="18" charset="0"/>
                <a:cs typeface="Times New Roman" panose="02020603050405020304" pitchFamily="18" charset="0"/>
              </a:rPr>
              <a:t>Perplexity Help Center⁠</a:t>
            </a:r>
            <a:r>
              <a:rPr lang="en-IN" altLang="en-US" sz="2400" b="1" spc="-10" dirty="0">
                <a:latin typeface="Times New Roman" panose="02020603050405020304" pitchFamily="18" charset="0"/>
                <a:cs typeface="Times New Roman" panose="02020603050405020304" pitchFamily="18" charset="0"/>
              </a:rPr>
              <a:t> </a:t>
            </a:r>
            <a:r>
              <a:rPr lang="en-US" sz="2400" b="1" spc="-10" dirty="0">
                <a:latin typeface="Times New Roman" panose="02020603050405020304" pitchFamily="18" charset="0"/>
                <a:cs typeface="Times New Roman" panose="02020603050405020304" pitchFamily="18" charset="0"/>
              </a:rPr>
              <a:t>Relevant to your AI-powered search, web retrieval , conversational answers. Website:</a:t>
            </a:r>
            <a:r>
              <a:rPr lang="en-IN" altLang="en-US" sz="2400" b="1" spc="-10" dirty="0">
                <a:latin typeface="Times New Roman" panose="02020603050405020304" pitchFamily="18" charset="0"/>
                <a:cs typeface="Times New Roman" panose="02020603050405020304" pitchFamily="18" charset="0"/>
              </a:rPr>
              <a:t> </a:t>
            </a:r>
            <a:r>
              <a:rPr lang="en-IN" altLang="en-US" sz="2400" b="1" spc="-10" dirty="0">
                <a:latin typeface="Times New Roman" panose="02020603050405020304" pitchFamily="18" charset="0"/>
                <a:cs typeface="Times New Roman" panose="02020603050405020304" pitchFamily="18" charset="0"/>
                <a:hlinkClick r:id="rId2"/>
              </a:rPr>
              <a:t>https://</a:t>
            </a:r>
            <a:r>
              <a:rPr lang="en-US" altLang="en-US" sz="2400" b="1" spc="-10" dirty="0">
                <a:latin typeface="Times New Roman" panose="02020603050405020304" pitchFamily="18" charset="0"/>
                <a:cs typeface="Times New Roman" panose="02020603050405020304" pitchFamily="18" charset="0"/>
                <a:hlinkClick r:id="rId2"/>
              </a:rPr>
              <a:t>www.perplexity.ai</a:t>
            </a:r>
            <a:endParaRPr lang="en-US" altLang="en-US" sz="2400" b="1" spc="-10" dirty="0">
              <a:latin typeface="Times New Roman" panose="02020603050405020304" pitchFamily="18" charset="0"/>
              <a:cs typeface="Times New Roman" panose="02020603050405020304" pitchFamily="18" charset="0"/>
            </a:endParaRPr>
          </a:p>
          <a:p>
            <a:pPr marL="354965" marR="5080" indent="-342900" algn="just">
              <a:lnSpc>
                <a:spcPct val="100000"/>
              </a:lnSpc>
              <a:spcBef>
                <a:spcPts val="100"/>
              </a:spcBef>
              <a:buFont typeface="+mj-lt"/>
              <a:buAutoNum type="arabicPeriod"/>
              <a:tabLst>
                <a:tab pos="332105" algn="l"/>
              </a:tabLst>
            </a:pPr>
            <a:r>
              <a:rPr lang="en-US" sz="2400" b="1" dirty="0"/>
              <a:t>Google, “Google AI Studio,” Google AI for Developers, 2026. [Online]. Available: </a:t>
            </a:r>
            <a:r>
              <a:rPr lang="en-US" sz="2400" b="1" dirty="0">
                <a:hlinkClick r:id="rId3"/>
              </a:rPr>
              <a:t>https://aistudio.google.com/</a:t>
            </a:r>
            <a:endParaRPr lang="en-US" sz="2400" b="1" dirty="0"/>
          </a:p>
          <a:p>
            <a:pPr marL="342900" indent="-342900" algn="just">
              <a:buFont typeface="+mj-lt"/>
              <a:buAutoNum type="arabicPeriod"/>
            </a:pPr>
            <a:endParaRPr lang="en-US" sz="2400" b="1" dirty="0"/>
          </a:p>
          <a:p>
            <a:pPr marL="342900" indent="-342900" algn="just">
              <a:buFont typeface="+mj-lt"/>
              <a:buAutoNum type="arabicPeriod"/>
            </a:pPr>
            <a:r>
              <a:rPr lang="en-US" sz="2400" b="1" dirty="0"/>
              <a:t> Google, “NotebookLM,” Google, 2026. [Online]. Available: </a:t>
            </a:r>
            <a:r>
              <a:rPr lang="en-US" sz="2400" b="1" dirty="0">
                <a:hlinkClick r:id="rId4"/>
              </a:rPr>
              <a:t>https://notebooklm.google/</a:t>
            </a:r>
            <a:endParaRPr lang="en-US" sz="2400" b="1" dirty="0"/>
          </a:p>
          <a:p>
            <a:pPr marL="342900" indent="-342900" algn="just">
              <a:buFont typeface="+mj-lt"/>
              <a:buAutoNum type="arabicPeriod"/>
            </a:pPr>
            <a:r>
              <a:rPr lang="en-IN" sz="2400" b="1" dirty="0"/>
              <a:t>Google, “Gemini API documentation,” Google AI for Developers, 2026. [Online]. Available: </a:t>
            </a:r>
            <a:r>
              <a:rPr lang="en-IN" sz="2400" b="1" dirty="0">
                <a:hlinkClick r:id="rId5"/>
              </a:rPr>
              <a:t>https://ai.google.dev/gemini-api/docs</a:t>
            </a:r>
            <a:endParaRPr lang="en-IN" sz="2400" b="1" dirty="0"/>
          </a:p>
          <a:p>
            <a:pPr marL="342900" indent="-342900" algn="just">
              <a:buFont typeface="+mj-lt"/>
              <a:buAutoNum type="arabicPeriod"/>
            </a:pPr>
            <a:r>
              <a:rPr lang="en-US" sz="2400" b="1" dirty="0"/>
              <a:t> Gemini Team, “Gemini: A family of highly capable multimodal models,” arXiv preprint arXiv:2312.11805, 2023.</a:t>
            </a:r>
            <a:endParaRPr lang="en-IN" sz="2400" b="1" spc="-10" dirty="0">
              <a:latin typeface="Times New Roman" panose="02020603050405020304" pitchFamily="18" charset="0"/>
              <a:cs typeface="Times New Roman" panose="02020603050405020304" pitchFamily="18" charset="0"/>
            </a:endParaRPr>
          </a:p>
          <a:p>
            <a:pPr marL="354965" marR="5080" indent="-342900" algn="just">
              <a:lnSpc>
                <a:spcPct val="100000"/>
              </a:lnSpc>
              <a:spcBef>
                <a:spcPts val="100"/>
              </a:spcBef>
              <a:buFont typeface="+mj-lt"/>
              <a:buAutoNum type="arabicPeriod"/>
              <a:tabLst>
                <a:tab pos="332105" algn="l"/>
              </a:tabLst>
            </a:pPr>
            <a:endParaRPr lang="en-IN" sz="1600" b="1" spc="-10" dirty="0">
              <a:latin typeface="Times New Roman" panose="02020603050405020304" pitchFamily="18" charset="0"/>
              <a:cs typeface="Times New Roman" panose="02020603050405020304" pitchFamily="18" charset="0"/>
            </a:endParaRPr>
          </a:p>
          <a:p>
            <a:pPr marL="12065" marR="5080" algn="just">
              <a:lnSpc>
                <a:spcPct val="100000"/>
              </a:lnSpc>
              <a:spcBef>
                <a:spcPts val="100"/>
              </a:spcBef>
              <a:tabLst>
                <a:tab pos="332105" algn="l"/>
              </a:tabLst>
            </a:pPr>
            <a:endParaRPr lang="en-IN" sz="2400" b="1" spc="-10" dirty="0">
              <a:latin typeface="Times New Roman" panose="02020603050405020304" pitchFamily="18" charset="0"/>
              <a:cs typeface="Times New Roman" panose="02020603050405020304" pitchFamily="18" charset="0"/>
            </a:endParaRPr>
          </a:p>
          <a:p>
            <a:pPr marL="12065" marR="5080" algn="just">
              <a:lnSpc>
                <a:spcPct val="100000"/>
              </a:lnSpc>
              <a:spcBef>
                <a:spcPts val="100"/>
              </a:spcBef>
              <a:tabLst>
                <a:tab pos="332105" algn="l"/>
              </a:tabLst>
            </a:pPr>
            <a:endParaRPr lang="en-IN" sz="3200" b="1" spc="-10" dirty="0">
              <a:latin typeface="Times New Roman" panose="02020603050405020304" pitchFamily="18" charset="0"/>
              <a:cs typeface="Times New Roman" panose="02020603050405020304" pitchFamily="18" charset="0"/>
            </a:endParaRPr>
          </a:p>
        </p:txBody>
      </p:sp>
      <p:sp>
        <p:nvSpPr>
          <p:cNvPr id="9" name="Text Box 8"/>
          <p:cNvSpPr txBox="1"/>
          <p:nvPr/>
        </p:nvSpPr>
        <p:spPr>
          <a:xfrm>
            <a:off x="-1889760" y="5306060"/>
            <a:ext cx="4064000" cy="368300"/>
          </a:xfrm>
          <a:prstGeom prst="rect">
            <a:avLst/>
          </a:prstGeom>
          <a:noFill/>
        </p:spPr>
        <p:txBody>
          <a:bodyPr wrap="square" rtlCol="0">
            <a:spAutoFit/>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05687" y="1609345"/>
            <a:ext cx="10641330" cy="2585323"/>
          </a:xfrm>
        </p:spPr>
        <p:txBody>
          <a:bodyPr/>
          <a:lstStyle/>
          <a:p>
            <a:r>
              <a:rPr lang="en-US" dirty="0"/>
              <a:t>                              </a:t>
            </a:r>
          </a:p>
          <a:p>
            <a:endParaRPr lang="en-US" dirty="0"/>
          </a:p>
          <a:p>
            <a:endParaRPr lang="en-US" dirty="0"/>
          </a:p>
          <a:p>
            <a:endParaRPr lang="en-US" dirty="0"/>
          </a:p>
          <a:p>
            <a:r>
              <a:rPr lang="en-US" dirty="0"/>
              <a:t>                                            </a:t>
            </a:r>
            <a:r>
              <a:rPr lang="en-US" sz="4000" b="1" dirty="0">
                <a:latin typeface="Times New Roman" panose="02020603050405020304" pitchFamily="18" charset="0"/>
                <a:cs typeface="Times New Roman" panose="02020603050405020304" pitchFamily="18" charset="0"/>
              </a:rPr>
              <a:t>Thank you</a:t>
            </a:r>
            <a:endParaRPr lang="en-IN" sz="40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TotalTime>
  <Words>2184</Words>
  <Application>Microsoft Office PowerPoint</Application>
  <PresentationFormat>Widescreen</PresentationFormat>
  <Paragraphs>244</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Times New Roman</vt:lpstr>
      <vt:lpstr>Office Theme</vt:lpstr>
      <vt:lpstr>PowerPoint Presentation</vt:lpstr>
      <vt:lpstr>Index</vt:lpstr>
      <vt:lpstr>Introduction</vt:lpstr>
      <vt:lpstr>Background and Motivation</vt:lpstr>
      <vt:lpstr>Relevance and Importance</vt:lpstr>
      <vt:lpstr>Literature Review</vt:lpstr>
      <vt:lpstr>       Literature Review</vt:lpstr>
      <vt:lpstr>PowerPoint Presentation</vt:lpstr>
      <vt:lpstr>             Research Gap</vt:lpstr>
      <vt:lpstr>Objectives</vt:lpstr>
      <vt:lpstr>Required Tools and Technology</vt:lpstr>
      <vt:lpstr>Method/ Approach</vt:lpstr>
      <vt:lpstr>System Architecture</vt:lpstr>
      <vt:lpstr>                      Result</vt:lpstr>
      <vt:lpstr>Result</vt:lpstr>
      <vt:lpstr>Result</vt:lpstr>
      <vt:lpstr>Future work /Scope</vt:lpstr>
      <vt:lpstr>Conclusion</vt:lpstr>
      <vt:lpstr>Refrences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dc:creator>
  <cp:lastModifiedBy>jeet shah</cp:lastModifiedBy>
  <cp:revision>17</cp:revision>
  <dcterms:created xsi:type="dcterms:W3CDTF">2026-08-07T12:33:00Z</dcterms:created>
  <dcterms:modified xsi:type="dcterms:W3CDTF">2026-09-26T06:34:36Z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2026-08-07T05:30:00Z</vt:filetime>
  </property>
  <property fmtid="{D5CDD505-2E9C-101B-9397-08002B2CF9AE}" pid="4" name="Creator">
    <vt:lpwstr>Google</vt:lpwstr>
  </property>
  <property fmtid="{D5CDD505-2E9C-101B-9397-08002B2CF9AE}" pid="5" name="LastSaved">
    <vt:filetime>2026-08-07T05:30:00Z</vt:filetime>
  </property>
  <property fmtid="{D5CDD505-2E9C-101B-9397-08002B2CF9AE}" pid="6" name="KSOProductBuildVer">
    <vt:lpwstr>1033-12.1.0.28032</vt:lpwstr>
  </property>
  <property fmtid="{D5CDD505-2E9C-101B-9397-08002B2CF9AE}" pid="7" name="ICV">
    <vt:lpwstr>F7F264202D49449B82B93B85406DBC7C_13</vt:lpwstr>
  </property>
</Properties>
</file>